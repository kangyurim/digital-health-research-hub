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797675" cy="9926638"/>
  <p:embeddedFontLst>
    <p:embeddedFont>
      <p:font typeface="Malgun Gothic" panose="020B0503020000020004" pitchFamily="50" charset="-127"/>
      <p:regular r:id="rId17"/>
      <p:bold r:id="rId18"/>
    </p:embeddedFont>
    <p:embeddedFont>
      <p:font typeface="Noto Sans KR" panose="020B0200000000000000" pitchFamily="50" charset="-12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659639-897F-40F8-9150-B77227019C3B}" v="3" dt="2026-10-01T05:27:14.168"/>
  </p1510:revLst>
</p1510:revInfo>
</file>

<file path=ppt/tableStyles.xml><?xml version="1.0" encoding="utf-8"?>
<a:tblStyleLst xmlns:a="http://schemas.openxmlformats.org/drawingml/2006/main" def="{AAF0D2FA-4151-45B9-B847-2AA3004C9412}">
  <a:tblStyle styleId="{AAF0D2FA-4151-45B9-B847-2AA3004C9412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972008F-76FD-42DE-8B73-F0A3CA5B336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C0CDC0-1808-4F09-B437-92F9213A257E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pos="386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 다슬" userId="1c520088-1c9f-4f02-82ef-5f6afbce76f9" providerId="ADAL" clId="{A47570C9-7C35-4066-9734-2900CE458169}"/>
    <pc:docChg chg="custSel modSld">
      <pc:chgData name="박 다슬" userId="1c520088-1c9f-4f02-82ef-5f6afbce76f9" providerId="ADAL" clId="{A47570C9-7C35-4066-9734-2900CE458169}" dt="2026-10-01T05:27:39.128" v="8" actId="113"/>
      <pc:docMkLst>
        <pc:docMk/>
      </pc:docMkLst>
      <pc:sldChg chg="modSp mod">
        <pc:chgData name="박 다슬" userId="1c520088-1c9f-4f02-82ef-5f6afbce76f9" providerId="ADAL" clId="{A47570C9-7C35-4066-9734-2900CE458169}" dt="2026-10-01T05:26:42.609" v="1" actId="113"/>
        <pc:sldMkLst>
          <pc:docMk/>
          <pc:sldMk cId="0" sldId="258"/>
        </pc:sldMkLst>
        <pc:spChg chg="mod">
          <ac:chgData name="박 다슬" userId="1c520088-1c9f-4f02-82ef-5f6afbce76f9" providerId="ADAL" clId="{A47570C9-7C35-4066-9734-2900CE458169}" dt="2026-10-01T05:26:42.609" v="1" actId="113"/>
          <ac:spMkLst>
            <pc:docMk/>
            <pc:sldMk cId="0" sldId="258"/>
            <ac:spMk id="115" creationId="{00000000-0000-0000-0000-000000000000}"/>
          </ac:spMkLst>
        </pc:spChg>
      </pc:sldChg>
      <pc:sldChg chg="modSp mod">
        <pc:chgData name="박 다슬" userId="1c520088-1c9f-4f02-82ef-5f6afbce76f9" providerId="ADAL" clId="{A47570C9-7C35-4066-9734-2900CE458169}" dt="2026-10-01T05:27:39.128" v="8" actId="113"/>
        <pc:sldMkLst>
          <pc:docMk/>
          <pc:sldMk cId="0" sldId="268"/>
        </pc:sldMkLst>
        <pc:graphicFrameChg chg="mod modGraphic">
          <ac:chgData name="박 다슬" userId="1c520088-1c9f-4f02-82ef-5f6afbce76f9" providerId="ADAL" clId="{A47570C9-7C35-4066-9734-2900CE458169}" dt="2026-10-01T05:27:39.128" v="8" actId="113"/>
          <ac:graphicFrameMkLst>
            <pc:docMk/>
            <pc:sldMk cId="0" sldId="268"/>
            <ac:graphicFrameMk id="31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/>
              <a:t>가상병원, 테스트베드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추가내용</a:t>
            </a:r>
            <a:endParaRPr sz="12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*현황</a:t>
            </a:r>
            <a:endParaRPr sz="12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0">
                <a:solidFill>
                  <a:schemeClr val="dk1"/>
                </a:solidFill>
              </a:rPr>
              <a:t> FLAME-ARK 9월 온라인 설명회 (17:00~18:00)</a:t>
            </a:r>
            <a:endParaRPr/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>
                <a:solidFill>
                  <a:schemeClr val="dk1"/>
                </a:solidFill>
              </a:rPr>
              <a:t>*계획</a:t>
            </a:r>
            <a:endParaRPr sz="1200" b="1">
              <a:solidFill>
                <a:schemeClr val="dk1"/>
              </a:solidFill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0">
              <a:solidFill>
                <a:schemeClr val="dk1"/>
              </a:solidFill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0">
              <a:solidFill>
                <a:schemeClr val="dk1"/>
              </a:solidFill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내용</a:t>
            </a:r>
            <a:endParaRPr sz="1200" b="1" i="0" u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현황</a:t>
            </a:r>
            <a:endParaRPr sz="1200" b="0" i="0" u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Noto Sans KR"/>
              <a:buChar char="-"/>
            </a:pPr>
            <a:r>
              <a:rPr lang="en-US" sz="1200" b="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조성준 교수님 논문 게재 승인 (JMIR)</a:t>
            </a:r>
            <a:endParaRPr/>
          </a:p>
          <a:p>
            <a:pPr marL="141288" lvl="0" indent="-1412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  “Large Language Models in Multidisciplinary Decision-Making for Hepatopancreatobiliary Oncology : A Feasibility Study”</a:t>
            </a:r>
            <a:endParaRPr/>
          </a:p>
        </p:txBody>
      </p:sp>
      <p:sp>
        <p:nvSpPr>
          <p:cNvPr id="95" name="Google Shape;95;p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추가내용</a:t>
            </a:r>
            <a:endParaRPr sz="12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의료원 주간업무보고</a:t>
            </a:r>
            <a:endParaRPr sz="1200" b="0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의료데이터 전송을 위한 DRB 및 내외부 연동 프로토콜 논의(10/1)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b="1"/>
              <a:t>삭제내용</a:t>
            </a:r>
            <a:endParaRPr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b="1"/>
              <a:t>* 현황</a:t>
            </a:r>
            <a:endParaRPr b="1"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구축 현황 최신화 및 제출 완료  (9/9)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컴퓨팅 인프라 활용 현황 최신화 및 제출 완료 (9/8)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* 계획</a:t>
            </a:r>
            <a:endParaRPr sz="1200" b="1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40970" lvl="0" indent="-1409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Noto Sans KR"/>
              <a:buChar char="-"/>
            </a:pPr>
            <a:r>
              <a:rPr lang="en-US" sz="1200" b="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9월 월간회의 개최 및 참석 예정 </a:t>
            </a:r>
            <a:endParaRPr sz="1200" b="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   </a:t>
            </a:r>
            <a:r>
              <a:rPr lang="en-US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(9/18 13:00 ~ 16:30, 5질환 발표 : 15:30 ~ 15:55)</a:t>
            </a:r>
            <a:endParaRPr/>
          </a:p>
          <a:p>
            <a:pPr marL="171450" lvl="0" indent="-95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71450" lvl="0" indent="-95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추가내용</a:t>
            </a:r>
            <a:endParaRPr sz="12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*현황</a:t>
            </a:r>
            <a:endParaRPr sz="12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의료원 주간업무보고</a:t>
            </a:r>
            <a:endParaRPr sz="1200" b="0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 b="0">
                <a:solidFill>
                  <a:schemeClr val="dk1"/>
                </a:solidFill>
              </a:rPr>
              <a:t>장비 및 인프라 구축 진행 중 (보안 사설망, 가상화 데스크탑 등)</a:t>
            </a:r>
            <a:endParaRPr/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>
                <a:solidFill>
                  <a:schemeClr val="dk1"/>
                </a:solidFill>
              </a:rPr>
              <a:t>*계획</a:t>
            </a:r>
            <a:endParaRPr sz="1200" b="1">
              <a:solidFill>
                <a:schemeClr val="dk1"/>
              </a:solidFill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KR"/>
              <a:buChar char="-"/>
            </a:pPr>
            <a:r>
              <a:rPr lang="en-US" sz="1200" b="1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분당차병원 AI/DATA 경진대회 개최 (추진)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 · 2026.10.20 : TRACK 1(Research) 2차 대면평가</a:t>
            </a:r>
            <a:endParaRPr sz="120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   - 접수 15건 → 1차 서류평가 </a:t>
            </a:r>
            <a:r>
              <a:rPr lang="en-US" sz="12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전원 2차 대면평가</a:t>
            </a:r>
            <a:endParaRPr sz="120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   - (의료원 회의실, 09:00~11:00)</a:t>
            </a:r>
            <a:endParaRPr sz="120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12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· 2026.11.04 : TRACK 2 (QI)  2차 대면평가</a:t>
            </a:r>
            <a:endParaRPr sz="120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   - 접수 53건</a:t>
            </a:r>
            <a:r>
              <a:rPr lang="en-US" sz="12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→ 1차 실무진평가 12팀 → 2차 임원진평가 수상순위 확정</a:t>
            </a:r>
            <a:endParaRPr sz="1200" b="0">
              <a:solidFill>
                <a:srgbClr val="FF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   - (C306 회의실, 14:00~16:00)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 · 2026.11.11 : 시상식 (대강당, 14:00~16:00)</a:t>
            </a:r>
            <a:endParaRPr/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0">
              <a:solidFill>
                <a:schemeClr val="dk1"/>
              </a:solidFill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0">
              <a:solidFill>
                <a:schemeClr val="dk1"/>
              </a:solidFill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내용</a:t>
            </a:r>
            <a:endParaRPr sz="1200" b="1" i="0" u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Malgun Gothic"/>
              <a:buNone/>
            </a:pPr>
            <a:r>
              <a:rPr lang="en-US" sz="1200" b="1" i="0" u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현황</a:t>
            </a:r>
            <a:endParaRPr sz="1200" b="1" i="0" u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Noto Sans KR"/>
              <a:buChar char="-"/>
            </a:pPr>
            <a:r>
              <a:rPr lang="en-US" sz="1200" b="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GPU 자원(B200) 지원사업 신청 결과 : 미선정</a:t>
            </a:r>
            <a:endParaRPr sz="1200" b="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     (2027년 1월 재공모 예정)</a:t>
            </a:r>
            <a:endParaRPr/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0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[빅데이터 워킹그룹]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(16:30, 오프라인) : 김아람 연구원</a:t>
            </a:r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안건 (No Box)">
  <p:cSld name="안건 (No Box)">
    <p:bg>
      <p:bgPr>
        <a:solidFill>
          <a:srgbClr val="FDFDFD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760640"/>
            <a:ext cx="4049486" cy="8708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72775" y="6557963"/>
            <a:ext cx="1314450" cy="184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964002" y="3999140"/>
            <a:ext cx="6263995" cy="1347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2576511" y="2588538"/>
            <a:ext cx="703897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분당차병원</a:t>
            </a:r>
            <a:endParaRPr sz="4000" b="1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국책과제 워킹그룹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/>
        </p:nvSpPr>
        <p:spPr>
          <a:xfrm>
            <a:off x="4443412" y="4324350"/>
            <a:ext cx="3305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2026.10.01</a:t>
            </a:r>
            <a:endParaRPr sz="1800" b="1" i="0" u="none" strike="noStrike" cap="non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964002" y="3999140"/>
            <a:ext cx="6263995" cy="1347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576511" y="2588538"/>
            <a:ext cx="703897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분당차병원</a:t>
            </a:r>
            <a:endParaRPr sz="4000" b="1" i="0" u="none" strike="noStrike" cap="non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국책과제 워킹그룹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38099" y="314325"/>
            <a:ext cx="5124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8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" name="Google Shape;91;p14"/>
          <p:cNvGraphicFramePr/>
          <p:nvPr/>
        </p:nvGraphicFramePr>
        <p:xfrm>
          <a:off x="1356117" y="240751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{AAF0D2FA-4151-45B9-B847-2AA3004C9412}</a:tableStyleId>
              </a:tblPr>
              <a:tblGrid>
                <a:gridCol w="9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순번</a:t>
                      </a:r>
                      <a:endParaRPr sz="1400" b="1" i="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92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</a:rPr>
                        <a:t>회의 내용</a:t>
                      </a:r>
                      <a:endParaRPr sz="1400" b="1" i="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92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b="0" i="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68575" marR="68575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F3F3F"/>
                          </a:solidFill>
                        </a:rPr>
                        <a:t>사업별 주요 진행 현황 및 이슈 사항</a:t>
                      </a:r>
                      <a:endParaRPr sz="1400" b="0" i="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68575" marR="6857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b="0" i="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68575" marR="68575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3F3F3F"/>
                          </a:solidFill>
                        </a:rPr>
                        <a:t>2026년 10월 주요 회의 및 접수 일정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575" marR="6857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1-1. 사업별 진행사항 : 환자 중심 협진 지원 AI (</a:t>
            </a:r>
            <a:r>
              <a:rPr lang="en-US" sz="1800" b="1">
                <a:solidFill>
                  <a:srgbClr val="F2561D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멀티모달</a:t>
            </a: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endParaRPr sz="1800" b="1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1180011" y="1184368"/>
            <a:ext cx="4772297" cy="5072742"/>
            <a:chOff x="1036320" y="1184368"/>
            <a:chExt cx="4772297" cy="5072742"/>
          </a:xfrm>
        </p:grpSpPr>
        <p:sp>
          <p:nvSpPr>
            <p:cNvPr id="99" name="Google Shape;99;p15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6239690" y="1184366"/>
            <a:ext cx="4772298" cy="2447110"/>
            <a:chOff x="6095999" y="1184366"/>
            <a:chExt cx="4772298" cy="2447110"/>
          </a:xfrm>
        </p:grpSpPr>
        <p:sp>
          <p:nvSpPr>
            <p:cNvPr id="102" name="Google Shape;102;p15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6095999" y="1184366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의사결정 및 논의 필요 사항</a:t>
              </a:r>
              <a:endParaRPr/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6239690" y="3810002"/>
            <a:ext cx="4772298" cy="2447109"/>
            <a:chOff x="6095999" y="3810002"/>
            <a:chExt cx="4772298" cy="2447109"/>
          </a:xfrm>
        </p:grpSpPr>
        <p:sp>
          <p:nvSpPr>
            <p:cNvPr id="105" name="Google Shape;105;p15"/>
            <p:cNvSpPr/>
            <p:nvPr/>
          </p:nvSpPr>
          <p:spPr>
            <a:xfrm>
              <a:off x="6096001" y="3997234"/>
              <a:ext cx="4772296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095999" y="3810002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요청 및 이슈 사항</a:t>
              </a:r>
              <a:endParaRPr/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1551621" y="1847834"/>
            <a:ext cx="4029075" cy="2416637"/>
            <a:chOff x="1551621" y="1894970"/>
            <a:chExt cx="4029075" cy="970868"/>
          </a:xfrm>
        </p:grpSpPr>
        <p:sp>
          <p:nvSpPr>
            <p:cNvPr id="108" name="Google Shape;108;p15"/>
            <p:cNvSpPr/>
            <p:nvPr/>
          </p:nvSpPr>
          <p:spPr>
            <a:xfrm>
              <a:off x="1551621" y="1894970"/>
              <a:ext cx="3664332" cy="970868"/>
            </a:xfrm>
            <a:prstGeom prst="roundRect">
              <a:avLst>
                <a:gd name="adj" fmla="val 6009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996431" y="1894970"/>
              <a:ext cx="3584265" cy="970868"/>
            </a:xfrm>
            <a:prstGeom prst="roundRect">
              <a:avLst>
                <a:gd name="adj" fmla="val 6491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10" name="Google Shape;110;p15"/>
          <p:cNvSpPr txBox="1"/>
          <p:nvPr/>
        </p:nvSpPr>
        <p:spPr>
          <a:xfrm>
            <a:off x="1567806" y="2664618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  <p:grpSp>
        <p:nvGrpSpPr>
          <p:cNvPr id="111" name="Google Shape;111;p15"/>
          <p:cNvGrpSpPr/>
          <p:nvPr/>
        </p:nvGrpSpPr>
        <p:grpSpPr>
          <a:xfrm>
            <a:off x="1551621" y="4499774"/>
            <a:ext cx="4029075" cy="1523952"/>
            <a:chOff x="1390650" y="4149279"/>
            <a:chExt cx="4313871" cy="1946729"/>
          </a:xfrm>
        </p:grpSpPr>
        <p:sp>
          <p:nvSpPr>
            <p:cNvPr id="112" name="Google Shape;112;p15"/>
            <p:cNvSpPr/>
            <p:nvPr/>
          </p:nvSpPr>
          <p:spPr>
            <a:xfrm>
              <a:off x="1390650" y="4154048"/>
              <a:ext cx="3923346" cy="1939510"/>
            </a:xfrm>
            <a:prstGeom prst="roundRect">
              <a:avLst>
                <a:gd name="adj" fmla="val 10755"/>
              </a:avLst>
            </a:prstGeom>
            <a:solidFill>
              <a:srgbClr val="1B8E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866901" y="4149279"/>
              <a:ext cx="3837620" cy="1946729"/>
            </a:xfrm>
            <a:prstGeom prst="roundRect">
              <a:avLst>
                <a:gd name="adj" fmla="val 1029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14" name="Google Shape;114;p15"/>
          <p:cNvSpPr txBox="1"/>
          <p:nvPr/>
        </p:nvSpPr>
        <p:spPr>
          <a:xfrm>
            <a:off x="1567806" y="4953973"/>
            <a:ext cx="42862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획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1-2. 사업별 진행사항 : 의료AI 혁신 생태계 조성 사업 (</a:t>
            </a:r>
            <a:r>
              <a:rPr lang="en-US" sz="1800" b="1">
                <a:solidFill>
                  <a:srgbClr val="F2561D"/>
                </a:solidFill>
                <a:latin typeface="Malgun Gothic"/>
                <a:ea typeface="Malgun Gothic"/>
                <a:cs typeface="Malgun Gothic"/>
                <a:sym typeface="Malgun Gothic"/>
              </a:rPr>
              <a:t>닥터앤서 3.0</a:t>
            </a: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800" b="1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6" name="Google Shape;136;p18"/>
          <p:cNvGrpSpPr/>
          <p:nvPr/>
        </p:nvGrpSpPr>
        <p:grpSpPr>
          <a:xfrm>
            <a:off x="1180011" y="1184368"/>
            <a:ext cx="4772297" cy="5072742"/>
            <a:chOff x="1036320" y="1184368"/>
            <a:chExt cx="4772297" cy="5072742"/>
          </a:xfrm>
        </p:grpSpPr>
        <p:sp>
          <p:nvSpPr>
            <p:cNvPr id="137" name="Google Shape;137;p18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139" name="Google Shape;139;p18"/>
          <p:cNvGrpSpPr/>
          <p:nvPr/>
        </p:nvGrpSpPr>
        <p:grpSpPr>
          <a:xfrm>
            <a:off x="1551625" y="1894928"/>
            <a:ext cx="4029075" cy="2983061"/>
            <a:chOff x="1551621" y="1894971"/>
            <a:chExt cx="4029075" cy="812779"/>
          </a:xfrm>
        </p:grpSpPr>
        <p:sp>
          <p:nvSpPr>
            <p:cNvPr id="140" name="Google Shape;140;p18"/>
            <p:cNvSpPr/>
            <p:nvPr/>
          </p:nvSpPr>
          <p:spPr>
            <a:xfrm>
              <a:off x="1551621" y="1900150"/>
              <a:ext cx="3664332" cy="807600"/>
            </a:xfrm>
            <a:prstGeom prst="roundRect">
              <a:avLst>
                <a:gd name="adj" fmla="val 928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1996431" y="1894971"/>
              <a:ext cx="3584265" cy="807600"/>
            </a:xfrm>
            <a:prstGeom prst="roundRect">
              <a:avLst>
                <a:gd name="adj" fmla="val 6305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2" name="Google Shape;142;p18"/>
          <p:cNvSpPr txBox="1"/>
          <p:nvPr/>
        </p:nvSpPr>
        <p:spPr>
          <a:xfrm>
            <a:off x="1567806" y="2690336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1567827" y="5007707"/>
            <a:ext cx="4029156" cy="1049901"/>
            <a:chOff x="1390650" y="4018226"/>
            <a:chExt cx="4313871" cy="2077777"/>
          </a:xfrm>
        </p:grpSpPr>
        <p:sp>
          <p:nvSpPr>
            <p:cNvPr id="144" name="Google Shape;144;p18"/>
            <p:cNvSpPr/>
            <p:nvPr/>
          </p:nvSpPr>
          <p:spPr>
            <a:xfrm>
              <a:off x="1390650" y="4018226"/>
              <a:ext cx="3923346" cy="2069070"/>
            </a:xfrm>
            <a:prstGeom prst="roundRect">
              <a:avLst>
                <a:gd name="adj" fmla="val 14939"/>
              </a:avLst>
            </a:prstGeom>
            <a:solidFill>
              <a:srgbClr val="1B8E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866901" y="4018227"/>
              <a:ext cx="3837620" cy="2077776"/>
            </a:xfrm>
            <a:prstGeom prst="roundRect">
              <a:avLst>
                <a:gd name="adj" fmla="val 12018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6" name="Google Shape;146;p18"/>
          <p:cNvSpPr txBox="1"/>
          <p:nvPr/>
        </p:nvSpPr>
        <p:spPr>
          <a:xfrm>
            <a:off x="1607829" y="5185076"/>
            <a:ext cx="42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획</a:t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6239690" y="1184366"/>
            <a:ext cx="4772298" cy="2447110"/>
            <a:chOff x="6095999" y="1184366"/>
            <a:chExt cx="4772298" cy="2447110"/>
          </a:xfrm>
        </p:grpSpPr>
        <p:sp>
          <p:nvSpPr>
            <p:cNvPr id="148" name="Google Shape;148;p18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6095999" y="1184366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의사결정 및 논의 필요 사항</a:t>
              </a:r>
              <a:endParaRPr/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6239690" y="3810002"/>
            <a:ext cx="4772298" cy="2447109"/>
            <a:chOff x="6095999" y="3810002"/>
            <a:chExt cx="4772298" cy="2447109"/>
          </a:xfrm>
        </p:grpSpPr>
        <p:sp>
          <p:nvSpPr>
            <p:cNvPr id="151" name="Google Shape;151;p18"/>
            <p:cNvSpPr/>
            <p:nvPr/>
          </p:nvSpPr>
          <p:spPr>
            <a:xfrm>
              <a:off x="6096001" y="3997234"/>
              <a:ext cx="4772296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6095999" y="3810002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참고사항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1-3. 사업별 진행사항 : 의료 데이터 중심병원 지원사업</a:t>
            </a:r>
            <a:endParaRPr/>
          </a:p>
        </p:txBody>
      </p:sp>
      <p:grpSp>
        <p:nvGrpSpPr>
          <p:cNvPr id="161" name="Google Shape;161;p19"/>
          <p:cNvGrpSpPr/>
          <p:nvPr/>
        </p:nvGrpSpPr>
        <p:grpSpPr>
          <a:xfrm>
            <a:off x="1180011" y="1184330"/>
            <a:ext cx="4772297" cy="5530303"/>
            <a:chOff x="1036320" y="1184368"/>
            <a:chExt cx="4772297" cy="5072742"/>
          </a:xfrm>
        </p:grpSpPr>
        <p:sp>
          <p:nvSpPr>
            <p:cNvPr id="162" name="Google Shape;162;p19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6239690" y="1184366"/>
            <a:ext cx="4772400" cy="2447110"/>
            <a:chOff x="6095999" y="1184366"/>
            <a:chExt cx="4772400" cy="2447110"/>
          </a:xfrm>
        </p:grpSpPr>
        <p:sp>
          <p:nvSpPr>
            <p:cNvPr id="165" name="Google Shape;165;p19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6095999" y="1184366"/>
              <a:ext cx="4772400" cy="369300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</a:t>
              </a:r>
              <a:r>
                <a:rPr lang="en-US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 획</a:t>
              </a:r>
              <a:endParaRPr/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6239690" y="3810002"/>
            <a:ext cx="4772298" cy="2447109"/>
            <a:chOff x="6095999" y="3810002"/>
            <a:chExt cx="4772298" cy="2447109"/>
          </a:xfrm>
        </p:grpSpPr>
        <p:sp>
          <p:nvSpPr>
            <p:cNvPr id="168" name="Google Shape;168;p19"/>
            <p:cNvSpPr/>
            <p:nvPr/>
          </p:nvSpPr>
          <p:spPr>
            <a:xfrm>
              <a:off x="6096001" y="3997234"/>
              <a:ext cx="4772296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095999" y="3810002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</a:t>
              </a:r>
              <a:r>
                <a:rPr lang="en-US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의사 결정 사항 및 </a:t>
              </a: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 사항</a:t>
              </a:r>
              <a:endParaRPr/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1551625" y="1783898"/>
            <a:ext cx="4029075" cy="4830059"/>
            <a:chOff x="1551621" y="1894970"/>
            <a:chExt cx="4029075" cy="872734"/>
          </a:xfrm>
        </p:grpSpPr>
        <p:sp>
          <p:nvSpPr>
            <p:cNvPr id="171" name="Google Shape;171;p19"/>
            <p:cNvSpPr/>
            <p:nvPr/>
          </p:nvSpPr>
          <p:spPr>
            <a:xfrm>
              <a:off x="1551621" y="1897687"/>
              <a:ext cx="3664332" cy="870017"/>
            </a:xfrm>
            <a:prstGeom prst="roundRect">
              <a:avLst>
                <a:gd name="adj" fmla="val 4878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996431" y="1894970"/>
              <a:ext cx="3584265" cy="870017"/>
            </a:xfrm>
            <a:prstGeom prst="roundRect">
              <a:avLst>
                <a:gd name="adj" fmla="val 529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73" name="Google Shape;173;p19"/>
          <p:cNvSpPr txBox="1"/>
          <p:nvPr/>
        </p:nvSpPr>
        <p:spPr>
          <a:xfrm>
            <a:off x="1554197" y="3327950"/>
            <a:ext cx="42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1-4. 사업별 진행사항 : 건강보험 빅데이터 분석센터</a:t>
            </a:r>
            <a:endParaRPr/>
          </a:p>
        </p:txBody>
      </p:sp>
      <p:grpSp>
        <p:nvGrpSpPr>
          <p:cNvPr id="183" name="Google Shape;183;p20"/>
          <p:cNvGrpSpPr/>
          <p:nvPr/>
        </p:nvGrpSpPr>
        <p:grpSpPr>
          <a:xfrm>
            <a:off x="6239690" y="1184366"/>
            <a:ext cx="4772298" cy="2447110"/>
            <a:chOff x="6095999" y="1184366"/>
            <a:chExt cx="4772298" cy="2447110"/>
          </a:xfrm>
        </p:grpSpPr>
        <p:sp>
          <p:nvSpPr>
            <p:cNvPr id="184" name="Google Shape;184;p20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6095999" y="1184366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의사결정 필요 사항</a:t>
              </a:r>
              <a:endParaRPr/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6239690" y="3810002"/>
            <a:ext cx="4772298" cy="2447109"/>
            <a:chOff x="6095999" y="3810002"/>
            <a:chExt cx="4772298" cy="2447109"/>
          </a:xfrm>
        </p:grpSpPr>
        <p:sp>
          <p:nvSpPr>
            <p:cNvPr id="187" name="Google Shape;187;p20"/>
            <p:cNvSpPr/>
            <p:nvPr/>
          </p:nvSpPr>
          <p:spPr>
            <a:xfrm>
              <a:off x="6096001" y="3997234"/>
              <a:ext cx="4772296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6095999" y="3810002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요청 및 이슈 사항</a:t>
              </a:r>
              <a:endParaRPr/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1180011" y="1184368"/>
            <a:ext cx="4772297" cy="5072742"/>
            <a:chOff x="1036320" y="1184368"/>
            <a:chExt cx="4772297" cy="5072742"/>
          </a:xfrm>
        </p:grpSpPr>
        <p:sp>
          <p:nvSpPr>
            <p:cNvPr id="190" name="Google Shape;190;p20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1551621" y="1727013"/>
            <a:ext cx="4029075" cy="1604013"/>
            <a:chOff x="1551621" y="1894970"/>
            <a:chExt cx="4029075" cy="843742"/>
          </a:xfrm>
        </p:grpSpPr>
        <p:sp>
          <p:nvSpPr>
            <p:cNvPr id="193" name="Google Shape;193;p20"/>
            <p:cNvSpPr/>
            <p:nvPr/>
          </p:nvSpPr>
          <p:spPr>
            <a:xfrm>
              <a:off x="1551621" y="1894970"/>
              <a:ext cx="3664332" cy="843742"/>
            </a:xfrm>
            <a:prstGeom prst="roundRect">
              <a:avLst>
                <a:gd name="adj" fmla="val 857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1996431" y="1894970"/>
              <a:ext cx="3584265" cy="843742"/>
            </a:xfrm>
            <a:prstGeom prst="roundRect">
              <a:avLst>
                <a:gd name="adj" fmla="val 857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95" name="Google Shape;195;p20"/>
          <p:cNvSpPr txBox="1"/>
          <p:nvPr/>
        </p:nvSpPr>
        <p:spPr>
          <a:xfrm>
            <a:off x="1558616" y="2159687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  <p:grpSp>
        <p:nvGrpSpPr>
          <p:cNvPr id="196" name="Google Shape;196;p20"/>
          <p:cNvGrpSpPr/>
          <p:nvPr/>
        </p:nvGrpSpPr>
        <p:grpSpPr>
          <a:xfrm>
            <a:off x="1551621" y="3631477"/>
            <a:ext cx="4045261" cy="2497562"/>
            <a:chOff x="1390650" y="4018226"/>
            <a:chExt cx="4331201" cy="2069072"/>
          </a:xfrm>
        </p:grpSpPr>
        <p:sp>
          <p:nvSpPr>
            <p:cNvPr id="197" name="Google Shape;197;p20"/>
            <p:cNvSpPr/>
            <p:nvPr/>
          </p:nvSpPr>
          <p:spPr>
            <a:xfrm>
              <a:off x="1390650" y="4018226"/>
              <a:ext cx="3923346" cy="2069071"/>
            </a:xfrm>
            <a:prstGeom prst="roundRect">
              <a:avLst>
                <a:gd name="adj" fmla="val 5815"/>
              </a:avLst>
            </a:prstGeom>
            <a:solidFill>
              <a:srgbClr val="1B8E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884231" y="4018227"/>
              <a:ext cx="3837620" cy="2069071"/>
            </a:xfrm>
            <a:prstGeom prst="roundRect">
              <a:avLst>
                <a:gd name="adj" fmla="val 5104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1567806" y="4493588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획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6364060" y="1184369"/>
            <a:ext cx="4647928" cy="5072742"/>
          </a:xfrm>
          <a:prstGeom prst="roundRect">
            <a:avLst>
              <a:gd name="adj" fmla="val 2933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80011" y="1371599"/>
            <a:ext cx="4772297" cy="1900993"/>
          </a:xfrm>
          <a:prstGeom prst="roundRect">
            <a:avLst>
              <a:gd name="adj" fmla="val 2933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180011" y="1184368"/>
            <a:ext cx="4772297" cy="369332"/>
          </a:xfrm>
          <a:prstGeom prst="roundRect">
            <a:avLst>
              <a:gd name="adj" fmla="val 11668"/>
            </a:avLst>
          </a:prstGeom>
          <a:solidFill>
            <a:srgbClr val="445E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의료AI AX 강화 컨설팅 사업 (조직역량강화, Track2)</a:t>
            </a: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1" name="Google Shape;211;p21"/>
          <p:cNvGrpSpPr/>
          <p:nvPr/>
        </p:nvGrpSpPr>
        <p:grpSpPr>
          <a:xfrm>
            <a:off x="1551621" y="1818770"/>
            <a:ext cx="4029075" cy="1338768"/>
            <a:chOff x="1551621" y="1894970"/>
            <a:chExt cx="4029075" cy="1086354"/>
          </a:xfrm>
        </p:grpSpPr>
        <p:sp>
          <p:nvSpPr>
            <p:cNvPr id="212" name="Google Shape;212;p21"/>
            <p:cNvSpPr/>
            <p:nvPr/>
          </p:nvSpPr>
          <p:spPr>
            <a:xfrm>
              <a:off x="1551621" y="1894970"/>
              <a:ext cx="3664332" cy="1086354"/>
            </a:xfrm>
            <a:prstGeom prst="roundRect">
              <a:avLst>
                <a:gd name="adj" fmla="val 857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1996431" y="1894970"/>
              <a:ext cx="3584265" cy="1086354"/>
            </a:xfrm>
            <a:prstGeom prst="roundRect">
              <a:avLst>
                <a:gd name="adj" fmla="val 857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14" name="Google Shape;214;p21"/>
          <p:cNvSpPr txBox="1"/>
          <p:nvPr/>
        </p:nvSpPr>
        <p:spPr>
          <a:xfrm>
            <a:off x="38099" y="314325"/>
            <a:ext cx="11639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1-6. 사업별 진행사항 : 의료 AI AX 강화 컨설팅 사업 및 의료 AI 보건의료인 직무 교육 사업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573564" y="1995130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6647271" y="1553701"/>
            <a:ext cx="4029075" cy="4471390"/>
            <a:chOff x="1551621" y="1894970"/>
            <a:chExt cx="4029075" cy="1086354"/>
          </a:xfrm>
        </p:grpSpPr>
        <p:sp>
          <p:nvSpPr>
            <p:cNvPr id="218" name="Google Shape;218;p21"/>
            <p:cNvSpPr/>
            <p:nvPr/>
          </p:nvSpPr>
          <p:spPr>
            <a:xfrm>
              <a:off x="1551621" y="1894970"/>
              <a:ext cx="3664332" cy="1086354"/>
            </a:xfrm>
            <a:prstGeom prst="roundRect">
              <a:avLst>
                <a:gd name="adj" fmla="val 857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1996431" y="1894970"/>
              <a:ext cx="3584265" cy="1086354"/>
            </a:xfrm>
            <a:prstGeom prst="roundRect">
              <a:avLst>
                <a:gd name="adj" fmla="val 857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20" name="Google Shape;220;p21"/>
          <p:cNvSpPr txBox="1"/>
          <p:nvPr/>
        </p:nvSpPr>
        <p:spPr>
          <a:xfrm>
            <a:off x="6644374" y="2906618"/>
            <a:ext cx="428625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일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획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180010" y="3732782"/>
            <a:ext cx="4772297" cy="2524329"/>
          </a:xfrm>
          <a:prstGeom prst="roundRect">
            <a:avLst>
              <a:gd name="adj" fmla="val 2933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1180011" y="3374100"/>
            <a:ext cx="4772297" cy="369332"/>
          </a:xfrm>
          <a:prstGeom prst="roundRect">
            <a:avLst>
              <a:gd name="adj" fmla="val 11668"/>
            </a:avLst>
          </a:prstGeom>
          <a:solidFill>
            <a:srgbClr val="445E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의료 AI 보건의료인 직무교육 사업</a:t>
            </a:r>
            <a:endParaRPr/>
          </a:p>
        </p:txBody>
      </p:sp>
      <p:grpSp>
        <p:nvGrpSpPr>
          <p:cNvPr id="223" name="Google Shape;223;p21"/>
          <p:cNvGrpSpPr/>
          <p:nvPr/>
        </p:nvGrpSpPr>
        <p:grpSpPr>
          <a:xfrm>
            <a:off x="1551621" y="3844939"/>
            <a:ext cx="4029075" cy="2372494"/>
            <a:chOff x="1551621" y="1894970"/>
            <a:chExt cx="4029075" cy="1086354"/>
          </a:xfrm>
        </p:grpSpPr>
        <p:sp>
          <p:nvSpPr>
            <p:cNvPr id="224" name="Google Shape;224;p21"/>
            <p:cNvSpPr/>
            <p:nvPr/>
          </p:nvSpPr>
          <p:spPr>
            <a:xfrm>
              <a:off x="1551621" y="1894970"/>
              <a:ext cx="3664332" cy="1086354"/>
            </a:xfrm>
            <a:prstGeom prst="roundRect">
              <a:avLst>
                <a:gd name="adj" fmla="val 857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1996431" y="1894970"/>
              <a:ext cx="3584265" cy="1086354"/>
            </a:xfrm>
            <a:prstGeom prst="roundRect">
              <a:avLst>
                <a:gd name="adj" fmla="val 857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27" name="Google Shape;227;p21"/>
          <p:cNvSpPr txBox="1"/>
          <p:nvPr/>
        </p:nvSpPr>
        <p:spPr>
          <a:xfrm>
            <a:off x="1567806" y="4608726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1-7. 사업별 진행사항 : Physical AI 기반 의료로봇 기술통합센터 구축 사업</a:t>
            </a:r>
            <a:endParaRPr/>
          </a:p>
        </p:txBody>
      </p:sp>
      <p:grpSp>
        <p:nvGrpSpPr>
          <p:cNvPr id="235" name="Google Shape;235;p22"/>
          <p:cNvGrpSpPr/>
          <p:nvPr/>
        </p:nvGrpSpPr>
        <p:grpSpPr>
          <a:xfrm>
            <a:off x="1180011" y="1184368"/>
            <a:ext cx="4772297" cy="5072742"/>
            <a:chOff x="1036320" y="1184368"/>
            <a:chExt cx="4772297" cy="5072742"/>
          </a:xfrm>
        </p:grpSpPr>
        <p:sp>
          <p:nvSpPr>
            <p:cNvPr id="236" name="Google Shape;236;p22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6239690" y="1184366"/>
            <a:ext cx="4772298" cy="2447110"/>
            <a:chOff x="6095999" y="1184366"/>
            <a:chExt cx="4772298" cy="2447110"/>
          </a:xfrm>
        </p:grpSpPr>
        <p:sp>
          <p:nvSpPr>
            <p:cNvPr id="239" name="Google Shape;239;p22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6095999" y="1184366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의사결정 필요 사항</a:t>
              </a:r>
              <a:endParaRPr/>
            </a:p>
          </p:txBody>
        </p:sp>
      </p:grpSp>
      <p:grpSp>
        <p:nvGrpSpPr>
          <p:cNvPr id="241" name="Google Shape;241;p22"/>
          <p:cNvGrpSpPr/>
          <p:nvPr/>
        </p:nvGrpSpPr>
        <p:grpSpPr>
          <a:xfrm>
            <a:off x="6239690" y="3810001"/>
            <a:ext cx="4772298" cy="2447109"/>
            <a:chOff x="6095999" y="3810002"/>
            <a:chExt cx="4772298" cy="2447109"/>
          </a:xfrm>
        </p:grpSpPr>
        <p:sp>
          <p:nvSpPr>
            <p:cNvPr id="242" name="Google Shape;242;p22"/>
            <p:cNvSpPr/>
            <p:nvPr/>
          </p:nvSpPr>
          <p:spPr>
            <a:xfrm>
              <a:off x="6096001" y="3997234"/>
              <a:ext cx="4772296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6095999" y="3810002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요청 및 이슈 사항</a:t>
              </a:r>
              <a:endParaRPr/>
            </a:p>
          </p:txBody>
        </p:sp>
      </p:grpSp>
      <p:grpSp>
        <p:nvGrpSpPr>
          <p:cNvPr id="244" name="Google Shape;244;p22"/>
          <p:cNvGrpSpPr/>
          <p:nvPr/>
        </p:nvGrpSpPr>
        <p:grpSpPr>
          <a:xfrm>
            <a:off x="1551621" y="1894966"/>
            <a:ext cx="4029075" cy="1999281"/>
            <a:chOff x="1551621" y="1894970"/>
            <a:chExt cx="4029075" cy="648713"/>
          </a:xfrm>
        </p:grpSpPr>
        <p:sp>
          <p:nvSpPr>
            <p:cNvPr id="245" name="Google Shape;245;p22"/>
            <p:cNvSpPr/>
            <p:nvPr/>
          </p:nvSpPr>
          <p:spPr>
            <a:xfrm>
              <a:off x="1551621" y="1897687"/>
              <a:ext cx="3664332" cy="645996"/>
            </a:xfrm>
            <a:prstGeom prst="roundRect">
              <a:avLst>
                <a:gd name="adj" fmla="val 857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1996431" y="1894970"/>
              <a:ext cx="3584265" cy="648713"/>
            </a:xfrm>
            <a:prstGeom prst="roundRect">
              <a:avLst>
                <a:gd name="adj" fmla="val 857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47" name="Google Shape;247;p22"/>
          <p:cNvSpPr txBox="1"/>
          <p:nvPr/>
        </p:nvSpPr>
        <p:spPr>
          <a:xfrm>
            <a:off x="1558616" y="2366486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  <p:grpSp>
        <p:nvGrpSpPr>
          <p:cNvPr id="248" name="Google Shape;248;p22"/>
          <p:cNvGrpSpPr/>
          <p:nvPr/>
        </p:nvGrpSpPr>
        <p:grpSpPr>
          <a:xfrm>
            <a:off x="1551621" y="3997233"/>
            <a:ext cx="4045261" cy="1918605"/>
            <a:chOff x="1390650" y="4018226"/>
            <a:chExt cx="4331201" cy="2077775"/>
          </a:xfrm>
        </p:grpSpPr>
        <p:sp>
          <p:nvSpPr>
            <p:cNvPr id="249" name="Google Shape;249;p22"/>
            <p:cNvSpPr/>
            <p:nvPr/>
          </p:nvSpPr>
          <p:spPr>
            <a:xfrm>
              <a:off x="1390650" y="4018226"/>
              <a:ext cx="3923346" cy="2069071"/>
            </a:xfrm>
            <a:prstGeom prst="roundRect">
              <a:avLst>
                <a:gd name="adj" fmla="val 7937"/>
              </a:avLst>
            </a:prstGeom>
            <a:solidFill>
              <a:srgbClr val="1B8E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1884231" y="4018226"/>
              <a:ext cx="3837620" cy="2077775"/>
            </a:xfrm>
            <a:prstGeom prst="roundRect">
              <a:avLst>
                <a:gd name="adj" fmla="val 9116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51" name="Google Shape;251;p22"/>
          <p:cNvSpPr txBox="1"/>
          <p:nvPr/>
        </p:nvSpPr>
        <p:spPr>
          <a:xfrm>
            <a:off x="1567806" y="4443601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획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239690" y="4179335"/>
            <a:ext cx="4763333" cy="336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95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1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1-8. 사업별 진행사항 : 독자 파운데이션 모델</a:t>
            </a: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>
            <a:off x="1180011" y="1184368"/>
            <a:ext cx="4772297" cy="5072742"/>
            <a:chOff x="1036320" y="1184368"/>
            <a:chExt cx="4772297" cy="5072742"/>
          </a:xfrm>
        </p:grpSpPr>
        <p:sp>
          <p:nvSpPr>
            <p:cNvPr id="263" name="Google Shape;263;p23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265" name="Google Shape;265;p23"/>
          <p:cNvGrpSpPr/>
          <p:nvPr/>
        </p:nvGrpSpPr>
        <p:grpSpPr>
          <a:xfrm>
            <a:off x="6239690" y="1184366"/>
            <a:ext cx="4772298" cy="2447110"/>
            <a:chOff x="6095999" y="1184366"/>
            <a:chExt cx="4772298" cy="2447110"/>
          </a:xfrm>
        </p:grpSpPr>
        <p:sp>
          <p:nvSpPr>
            <p:cNvPr id="266" name="Google Shape;266;p23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6095999" y="1184366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의사결정 필요 사항</a:t>
              </a:r>
              <a:endParaRPr/>
            </a:p>
          </p:txBody>
        </p:sp>
      </p:grpSp>
      <p:grpSp>
        <p:nvGrpSpPr>
          <p:cNvPr id="268" name="Google Shape;268;p23"/>
          <p:cNvGrpSpPr/>
          <p:nvPr/>
        </p:nvGrpSpPr>
        <p:grpSpPr>
          <a:xfrm>
            <a:off x="6239690" y="3810001"/>
            <a:ext cx="4772298" cy="2447109"/>
            <a:chOff x="6095999" y="3810002"/>
            <a:chExt cx="4772298" cy="2447109"/>
          </a:xfrm>
        </p:grpSpPr>
        <p:sp>
          <p:nvSpPr>
            <p:cNvPr id="269" name="Google Shape;269;p23"/>
            <p:cNvSpPr/>
            <p:nvPr/>
          </p:nvSpPr>
          <p:spPr>
            <a:xfrm>
              <a:off x="6096001" y="3997234"/>
              <a:ext cx="4772296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6095999" y="3810002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요청 및 이슈 사항</a:t>
              </a:r>
              <a:endParaRPr/>
            </a:p>
          </p:txBody>
        </p:sp>
      </p:grpSp>
      <p:grpSp>
        <p:nvGrpSpPr>
          <p:cNvPr id="271" name="Google Shape;271;p23"/>
          <p:cNvGrpSpPr/>
          <p:nvPr/>
        </p:nvGrpSpPr>
        <p:grpSpPr>
          <a:xfrm>
            <a:off x="1551621" y="1894966"/>
            <a:ext cx="4029075" cy="2363327"/>
            <a:chOff x="1551621" y="1894970"/>
            <a:chExt cx="4029075" cy="648713"/>
          </a:xfrm>
        </p:grpSpPr>
        <p:sp>
          <p:nvSpPr>
            <p:cNvPr id="272" name="Google Shape;272;p23"/>
            <p:cNvSpPr/>
            <p:nvPr/>
          </p:nvSpPr>
          <p:spPr>
            <a:xfrm>
              <a:off x="1551621" y="1897687"/>
              <a:ext cx="3664332" cy="645996"/>
            </a:xfrm>
            <a:prstGeom prst="roundRect">
              <a:avLst>
                <a:gd name="adj" fmla="val 8570"/>
              </a:avLst>
            </a:prstGeom>
            <a:solidFill>
              <a:srgbClr val="1675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1996431" y="1894970"/>
              <a:ext cx="3584265" cy="648713"/>
            </a:xfrm>
            <a:prstGeom prst="roundRect">
              <a:avLst>
                <a:gd name="adj" fmla="val 857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74" name="Google Shape;274;p23"/>
          <p:cNvSpPr txBox="1"/>
          <p:nvPr/>
        </p:nvSpPr>
        <p:spPr>
          <a:xfrm>
            <a:off x="1558616" y="2882531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황</a:t>
            </a:r>
            <a:endParaRPr/>
          </a:p>
        </p:txBody>
      </p:sp>
      <p:grpSp>
        <p:nvGrpSpPr>
          <p:cNvPr id="275" name="Google Shape;275;p23"/>
          <p:cNvGrpSpPr/>
          <p:nvPr/>
        </p:nvGrpSpPr>
        <p:grpSpPr>
          <a:xfrm>
            <a:off x="1535435" y="4380825"/>
            <a:ext cx="4045261" cy="1748371"/>
            <a:chOff x="1390650" y="4018226"/>
            <a:chExt cx="4331201" cy="2077775"/>
          </a:xfrm>
        </p:grpSpPr>
        <p:sp>
          <p:nvSpPr>
            <p:cNvPr id="276" name="Google Shape;276;p23"/>
            <p:cNvSpPr/>
            <p:nvPr/>
          </p:nvSpPr>
          <p:spPr>
            <a:xfrm>
              <a:off x="1390650" y="4018226"/>
              <a:ext cx="3923346" cy="2069071"/>
            </a:xfrm>
            <a:prstGeom prst="roundRect">
              <a:avLst>
                <a:gd name="adj" fmla="val 7937"/>
              </a:avLst>
            </a:prstGeom>
            <a:solidFill>
              <a:srgbClr val="1B8EF2">
                <a:alpha val="70196"/>
              </a:srgb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1884231" y="4018226"/>
              <a:ext cx="3837620" cy="2077775"/>
            </a:xfrm>
            <a:prstGeom prst="roundRect">
              <a:avLst>
                <a:gd name="adj" fmla="val 9116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78" name="Google Shape;278;p23"/>
          <p:cNvSpPr txBox="1"/>
          <p:nvPr/>
        </p:nvSpPr>
        <p:spPr>
          <a:xfrm>
            <a:off x="1567806" y="4851010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획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/>
        </p:nvSpPr>
        <p:spPr>
          <a:xfrm>
            <a:off x="38099" y="314325"/>
            <a:ext cx="9280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1-9. 사업별 진행사항 : 간호 스케줄 배정 자동화 시스템 구축 (삼일 PwC 협업)</a:t>
            </a:r>
            <a:endParaRPr sz="1800" b="1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8" name="Google Shape;288;p24"/>
          <p:cNvGrpSpPr/>
          <p:nvPr/>
        </p:nvGrpSpPr>
        <p:grpSpPr>
          <a:xfrm>
            <a:off x="1180011" y="1184368"/>
            <a:ext cx="4772297" cy="5072742"/>
            <a:chOff x="1036320" y="1184368"/>
            <a:chExt cx="4772297" cy="5072742"/>
          </a:xfrm>
        </p:grpSpPr>
        <p:sp>
          <p:nvSpPr>
            <p:cNvPr id="289" name="Google Shape;289;p24"/>
            <p:cNvSpPr/>
            <p:nvPr/>
          </p:nvSpPr>
          <p:spPr>
            <a:xfrm>
              <a:off x="1036320" y="1371599"/>
              <a:ext cx="4772297" cy="4885511"/>
            </a:xfrm>
            <a:prstGeom prst="roundRect">
              <a:avLst>
                <a:gd name="adj" fmla="val 2933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1036320" y="1184368"/>
              <a:ext cx="4772297" cy="369332"/>
            </a:xfrm>
            <a:prstGeom prst="roundRect">
              <a:avLst>
                <a:gd name="adj" fmla="val 11668"/>
              </a:avLst>
            </a:prstGeom>
            <a:solidFill>
              <a:srgbClr val="445E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진행현황 및 향후 계획 </a:t>
              </a:r>
              <a:endParaRPr/>
            </a:p>
          </p:txBody>
        </p:sp>
      </p:grpSp>
      <p:grpSp>
        <p:nvGrpSpPr>
          <p:cNvPr id="291" name="Google Shape;291;p24"/>
          <p:cNvGrpSpPr/>
          <p:nvPr/>
        </p:nvGrpSpPr>
        <p:grpSpPr>
          <a:xfrm>
            <a:off x="6239697" y="1184354"/>
            <a:ext cx="4772298" cy="2826657"/>
            <a:chOff x="6095999" y="1184366"/>
            <a:chExt cx="4772298" cy="2447110"/>
          </a:xfrm>
        </p:grpSpPr>
        <p:sp>
          <p:nvSpPr>
            <p:cNvPr id="292" name="Google Shape;292;p24"/>
            <p:cNvSpPr/>
            <p:nvPr/>
          </p:nvSpPr>
          <p:spPr>
            <a:xfrm>
              <a:off x="6096000" y="1371599"/>
              <a:ext cx="4772297" cy="2259877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6095999" y="1184366"/>
              <a:ext cx="4772297" cy="369333"/>
            </a:xfrm>
            <a:prstGeom prst="roundRect">
              <a:avLst>
                <a:gd name="adj" fmla="val 14247"/>
              </a:avLst>
            </a:prstGeom>
            <a:solidFill>
              <a:srgbClr val="5C73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의사결정 필요 사항</a:t>
              </a:r>
              <a:endParaRPr/>
            </a:p>
          </p:txBody>
        </p:sp>
      </p:grpSp>
      <p:grpSp>
        <p:nvGrpSpPr>
          <p:cNvPr id="294" name="Google Shape;294;p24"/>
          <p:cNvGrpSpPr/>
          <p:nvPr/>
        </p:nvGrpSpPr>
        <p:grpSpPr>
          <a:xfrm>
            <a:off x="6239697" y="4289579"/>
            <a:ext cx="4772403" cy="1967217"/>
            <a:chOff x="6095999" y="4141803"/>
            <a:chExt cx="4772403" cy="2115287"/>
          </a:xfrm>
        </p:grpSpPr>
        <p:sp>
          <p:nvSpPr>
            <p:cNvPr id="295" name="Google Shape;295;p24"/>
            <p:cNvSpPr/>
            <p:nvPr/>
          </p:nvSpPr>
          <p:spPr>
            <a:xfrm>
              <a:off x="6096002" y="4490990"/>
              <a:ext cx="4772400" cy="1766100"/>
            </a:xfrm>
            <a:prstGeom prst="roundRect">
              <a:avLst>
                <a:gd name="adj" fmla="val 5991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6095999" y="4141803"/>
              <a:ext cx="4772400" cy="369300"/>
            </a:xfrm>
            <a:prstGeom prst="roundRect">
              <a:avLst>
                <a:gd name="adj" fmla="val 14247"/>
              </a:avLst>
            </a:prstGeom>
            <a:solidFill>
              <a:srgbClr val="6695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 요청 및 이슈 사항</a:t>
              </a:r>
              <a:endParaRPr/>
            </a:p>
          </p:txBody>
        </p:sp>
      </p:grpSp>
      <p:sp>
        <p:nvSpPr>
          <p:cNvPr id="297" name="Google Shape;297;p24"/>
          <p:cNvSpPr/>
          <p:nvPr/>
        </p:nvSpPr>
        <p:spPr>
          <a:xfrm>
            <a:off x="1551621" y="1904864"/>
            <a:ext cx="3664332" cy="2353429"/>
          </a:xfrm>
          <a:prstGeom prst="roundRect">
            <a:avLst>
              <a:gd name="adj" fmla="val 8570"/>
            </a:avLst>
          </a:prstGeom>
          <a:solidFill>
            <a:srgbClr val="1675F2">
              <a:alpha val="70196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1996431" y="1894966"/>
            <a:ext cx="3584265" cy="2363327"/>
          </a:xfrm>
          <a:prstGeom prst="roundRect">
            <a:avLst>
              <a:gd name="adj" fmla="val 8570"/>
            </a:avLst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1558616" y="2692031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</a:t>
            </a: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황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1535435" y="4380825"/>
            <a:ext cx="3664332" cy="1741047"/>
          </a:xfrm>
          <a:prstGeom prst="roundRect">
            <a:avLst>
              <a:gd name="adj" fmla="val 7937"/>
            </a:avLst>
          </a:prstGeom>
          <a:solidFill>
            <a:srgbClr val="1B8EF2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1996430" y="4380825"/>
            <a:ext cx="3584266" cy="1748371"/>
          </a:xfrm>
          <a:prstGeom prst="roundRect">
            <a:avLst>
              <a:gd name="adj" fmla="val 91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1535435" y="4882016"/>
            <a:ext cx="428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</a:t>
            </a: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획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/>
          <p:nvPr/>
        </p:nvSpPr>
        <p:spPr>
          <a:xfrm>
            <a:off x="38099" y="314325"/>
            <a:ext cx="5124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주요 일정 : 2026년 10월</a:t>
            </a:r>
            <a:endParaRPr/>
          </a:p>
        </p:txBody>
      </p:sp>
      <p:graphicFrame>
        <p:nvGraphicFramePr>
          <p:cNvPr id="311" name="Google Shape;311;p25"/>
          <p:cNvGraphicFramePr/>
          <p:nvPr>
            <p:extLst>
              <p:ext uri="{D42A27DB-BD31-4B8C-83A1-F6EECF244321}">
                <p14:modId xmlns:p14="http://schemas.microsoft.com/office/powerpoint/2010/main" val="1243165866"/>
              </p:ext>
            </p:extLst>
          </p:nvPr>
        </p:nvGraphicFramePr>
        <p:xfrm>
          <a:off x="535998" y="1010077"/>
          <a:ext cx="10960075" cy="5570800"/>
        </p:xfrm>
        <a:graphic>
          <a:graphicData uri="http://schemas.openxmlformats.org/drawingml/2006/table">
            <a:tbl>
              <a:tblPr firstRow="1" bandRow="1">
                <a:noFill/>
                <a:tableStyleId>{AAF0D2FA-4151-45B9-B847-2AA3004C9412}</a:tableStyleId>
              </a:tblPr>
              <a:tblGrid>
                <a:gridCol w="156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5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5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[직무교육]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비대면(~10/1)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[워킹그룹]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정기회의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(12:00)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[멀티모달]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2주관 9월 정례회의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(오프라인)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개천절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8EF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1000" b="1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대체휴일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[닥터앤서]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정기 PM 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(16:00, 온라인)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[멀티모달]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실무담당자 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(14:00, 온·오프라인)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[기타]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경희의료원-차의료원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CIO 교류회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(16:00, 오프라인)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한글날</a:t>
                      </a:r>
                      <a:endParaRPr sz="1000" b="1" i="0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8EF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 sz="1000" b="1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[직무교육]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대구 교육(~10/16)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</a:t>
                      </a: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데이터심의위원회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10월 정기회의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(16:00, 온·오프라인)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[빅데이터 워킹그룹]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(16:30, 오프라인)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 i="0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21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8EF2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8EF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 sz="1000" b="1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[직무교육]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분당 교육 (~10/23)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[경진대회]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TRACK1 2차 대면평가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(09:00~11:00)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[닥터앤서]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정기 PM 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(16:00, 온라인)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1000" b="1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</a:t>
                      </a:r>
                      <a:r>
                        <a:rPr lang="ko-KR" altLang="en-US" sz="1000" b="1" i="0" u="none" strike="noStrike" cap="none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워킹그룹</a:t>
                      </a:r>
                      <a:r>
                        <a:rPr lang="en-US" altLang="ko-KR" sz="1000" b="1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]</a:t>
                      </a:r>
                      <a:endParaRPr lang="ko-KR" altLang="en-US" sz="10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72C5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정기회의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72C5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(12:00)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1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29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8EF2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8EF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</a:t>
                      </a:r>
                      <a:endParaRPr sz="1000" b="1" u="none" strike="noStrike" cap="none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3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[멀티모달]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2주관 10월 정례회의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(16:00, 오프라인)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[의료데이터중심병원]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컨소시엄 점검회의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(13:00, 온라인)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solidFill>
                          <a:srgbClr val="1B8EF2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12" name="Google Shape;312;p25"/>
          <p:cNvCxnSpPr/>
          <p:nvPr/>
        </p:nvCxnSpPr>
        <p:spPr>
          <a:xfrm>
            <a:off x="2104571" y="5488214"/>
            <a:ext cx="7826829" cy="0"/>
          </a:xfrm>
          <a:prstGeom prst="straightConnector1">
            <a:avLst/>
          </a:prstGeom>
          <a:noFill/>
          <a:ln w="7620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3" name="Google Shape;313;p25"/>
          <p:cNvCxnSpPr/>
          <p:nvPr/>
        </p:nvCxnSpPr>
        <p:spPr>
          <a:xfrm>
            <a:off x="2104571" y="4243614"/>
            <a:ext cx="7826829" cy="0"/>
          </a:xfrm>
          <a:prstGeom prst="straightConnector1">
            <a:avLst/>
          </a:prstGeom>
          <a:noFill/>
          <a:ln w="7620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4" name="Google Shape;314;p25"/>
          <p:cNvCxnSpPr/>
          <p:nvPr/>
        </p:nvCxnSpPr>
        <p:spPr>
          <a:xfrm>
            <a:off x="3657600" y="2247900"/>
            <a:ext cx="4711700" cy="0"/>
          </a:xfrm>
          <a:prstGeom prst="straightConnector1">
            <a:avLst/>
          </a:prstGeom>
          <a:noFill/>
          <a:ln w="7620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e6b3d1b-1efa-4aae-9053-200e21d8bbfc" xsi:nil="true"/>
    <lcf76f155ced4ddcb4097134ff3c332f xmlns="ab708217-bac6-4a67-bccd-e1974bfcd60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5B8D9233692A04895CFD4DD873C8953" ma:contentTypeVersion="14" ma:contentTypeDescription="새 문서를 만듭니다." ma:contentTypeScope="" ma:versionID="1d7095dfcea05fc7f2f23f98f1c94a36">
  <xsd:schema xmlns:xsd="http://www.w3.org/2001/XMLSchema" xmlns:xs="http://www.w3.org/2001/XMLSchema" xmlns:p="http://schemas.microsoft.com/office/2006/metadata/properties" xmlns:ns2="ab708217-bac6-4a67-bccd-e1974bfcd60a" xmlns:ns3="8e6b3d1b-1efa-4aae-9053-200e21d8bbfc" targetNamespace="http://schemas.microsoft.com/office/2006/metadata/properties" ma:root="true" ma:fieldsID="4f081041264a6a051477bb191e3c579f" ns2:_="" ns3:_="">
    <xsd:import namespace="ab708217-bac6-4a67-bccd-e1974bfcd60a"/>
    <xsd:import namespace="8e6b3d1b-1efa-4aae-9053-200e21d8bb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708217-bac6-4a67-bccd-e1974bfcd6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cbbc3c60-c771-4570-8eaa-e5d9b9edf9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6b3d1b-1efa-4aae-9053-200e21d8bb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01d5617-5fbd-41e2-990c-208d504fc3c3}" ma:internalName="TaxCatchAll" ma:showField="CatchAllData" ma:web="8e6b3d1b-1efa-4aae-9053-200e21d8bb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399310-88CA-4AB7-8C04-5EA02C2567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37EF37-D631-4CB0-980E-A69B97A52D00}">
  <ds:schemaRefs>
    <ds:schemaRef ds:uri="http://schemas.microsoft.com/office/2006/documentManagement/types"/>
    <ds:schemaRef ds:uri="http://schemas.microsoft.com/office/2006/metadata/properties"/>
    <ds:schemaRef ds:uri="8e6b3d1b-1efa-4aae-9053-200e21d8bbfc"/>
    <ds:schemaRef ds:uri="ab708217-bac6-4a67-bccd-e1974bfcd60a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C35886F-E9A8-43C8-9EC9-DA04B20CC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708217-bac6-4a67-bccd-e1974bfcd60a"/>
    <ds:schemaRef ds:uri="8e6b3d1b-1efa-4aae-9053-200e21d8bb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와이드스크린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Malgun Gothic</vt:lpstr>
      <vt:lpstr>Noto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 유림</cp:lastModifiedBy>
  <cp:revision>2</cp:revision>
  <dcterms:modified xsi:type="dcterms:W3CDTF">2026-10-15T02:22:27Z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0x01010095B8D9233692A04895CFD4DD873C8953</vt:lpwstr>
  </property>
  <property fmtid="{D5CDD505-2E9C-101B-9397-08002B2CF9AE}" pid="3" name="MediaServiceImageTags">
    <vt:lpwstr/>
  </property>
</Properties>
</file>