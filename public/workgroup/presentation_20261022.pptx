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BE9198D-B413-4048-8DF4-0CFCDAF806D1}">
          <p14:sldIdLst>
            <p14:sldId id="256"/>
            <p14:sldId id="257"/>
          </p14:sldIdLst>
        </p14:section>
        <p14:section name="의료데이터관리팀" id="{CA3E5CE7-5F8C-4F6F-BED8-2C5753B2B518}">
          <p14:sldIdLst>
            <p14:sldId id="258"/>
            <p14:sldId id="259"/>
            <p14:sldId id="260"/>
            <p14:sldId id="261"/>
          </p14:sldIdLst>
        </p14:section>
        <p14:section name="건강보험 빅데이터 분석센터" id="{D65455B7-AE3D-4947-8C8C-FE0DA98031EB}">
          <p14:sldIdLst>
            <p14:sldId id="262"/>
          </p14:sldIdLst>
        </p14:section>
        <p14:section name="AI전략운영팀" id="{179D4497-C374-4359-8586-B99447532A34}">
          <p14:sldIdLst>
            <p14:sldId id="263"/>
            <p14:sldId id="264"/>
            <p14:sldId id="265"/>
          </p14:sldIdLst>
        </p14:section>
        <p14:section name="디지털헬스팀" id="{57560830-19B0-48BF-BBE3-0FF3887C8CD0}">
          <p14:sldIdLst>
            <p14:sldId id="266"/>
          </p14:sldIdLst>
        </p14:section>
        <p14:section name="월간 주요 일정" id="{BD067AA7-9B92-4BD2-976D-3E364213B05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4F"/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 다슬" userId="1c520088-1c9f-4f02-82ef-5f6afbce76f9" providerId="ADAL" clId="{A47570C9-7C35-4066-9734-2900CE458169}"/>
    <pc:docChg chg="addSection modSection">
      <pc:chgData name="박 다슬" userId="1c520088-1c9f-4f02-82ef-5f6afbce76f9" providerId="ADAL" clId="{A47570C9-7C35-4066-9734-2900CE458169}" dt="2026-10-14T05:35:46.074" v="9" actId="1784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58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가상병원, 테스트베드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추가내용
*현황
 FLAME-ARK 9월 온라인 설명회 (17:00~18:00)
*계획
삭제 내용
* 현황
조성준 교수님 논문 게재 승인 (JMIR)
  “Large Language Models in Multidisciplinary Decision-Making for Hepatopancreatobiliary Oncology : A Feasibility Study”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추가내용
출처: 의료원 주간업무보고
- 의료데이터 전송을 위한 DRB 및 내외부 연동 프로토콜 논의(10/1) 
삭제내용
* 현황
데이터 구축 현황 최신화 및 제출 완료  (9/9)
컴퓨팅 인프라 활용 현황 최신화 및 제출 완료 (9/8)
* 계획
9월 월간회의 개최 및 참석 예정 
   (9/18 13:00 ~ 16:30, 5질환 발표 : 15:30 ~ 15:55)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추가내용
*현황
출처: 의료원 주간업무보고
장비 및 인프라 구축 진행 중 (보안 사설망, 가상화 데스크탑 등)
*계획
분당차병원 AI/DATA 경진대회 개최 (추진) 
  · 2026.10.20 : TRACK 1(Research) 2차 대면평가
      - 접수 15건 → 1차 서류평가 → 전원 2차 대면평가
      - (의료원 회의실, 09:00~11:00)
  · 2026.11.04 : TRACK 2 (QI)  2차 대면평가
      - 접수 53건 → 1차 실무진평가 12팀 → 2차 임원진평가 수상순위 확정
      - (C306 회의실, 14:00~16:00)
 · 2026.11.11 : 시상식 (대강당, 14:00~16:00)
삭제 내용
* 현황
GPU 자원(B200) 지원사업 신청 결과 : 미선정
     (2027년 1월 재공모 예정)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[빅데이터 워킹그룹] (16:30, 오프라인) : 김아람 연구원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736c4b5-079d-5fde-a2b7-e804453dba01/scratchpad/build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031" y="6446520"/>
            <a:ext cx="1426464" cy="2006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우측 패널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342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장식 원 1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장식 원 2"/>
          <p:cNvSpPr/>
          <p:nvPr/>
        </p:nvSpPr>
        <p:spPr>
          <a:xfrm>
            <a:off x="6858000" y="3931920"/>
            <a:ext cx="3840480" cy="3840480"/>
          </a:xfrm>
          <a:prstGeom prst="ellipse">
            <a:avLst/>
          </a:prstGeom>
          <a:solidFill>
            <a:srgbClr val="ED7422">
              <a:alpha val="8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4124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2514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10.22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분당차병원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400"/>
              </a:lnSpc>
              <a:buNone/>
            </a:pPr>
            <a:r>
              <a:rPr lang="en-US" sz="48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국책과제</a:t>
            </a:r>
            <a:endParaRPr lang="en-US" sz="4800" dirty="0"/>
          </a:p>
          <a:p>
            <a:pPr marL="0" indent="0">
              <a:lnSpc>
                <a:spcPts val="6400"/>
              </a:lnSpc>
              <a:buNone/>
            </a:pPr>
            <a:r>
              <a:rPr lang="en-US" sz="48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워킹그룹</a:t>
            </a:r>
            <a:endParaRPr lang="en-US" sz="4800" dirty="0"/>
          </a:p>
        </p:txBody>
      </p:sp>
      <p:pic>
        <p:nvPicPr>
          <p:cNvPr id="9" name="Image 0" descr="/tmp/claude-0/-home-claude/f736c4b5-079d-5fde-a2b7-e804453dba01/scratchpad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989320"/>
            <a:ext cx="1920240" cy="2700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좌측 패널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426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</a:t>
            </a: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안건</a:t>
            </a:r>
            <a:endParaRPr lang="en-US" sz="3600" dirty="0"/>
          </a:p>
        </p:txBody>
      </p:sp>
      <p:sp>
        <p:nvSpPr>
          <p:cNvPr id="6" name="구분선 상단"/>
          <p:cNvSpPr/>
          <p:nvPr/>
        </p:nvSpPr>
        <p:spPr>
          <a:xfrm>
            <a:off x="5029200" y="2286000"/>
            <a:ext cx="6339535" cy="0"/>
          </a:xfrm>
          <a:prstGeom prst="line">
            <a:avLst/>
          </a:prstGeom>
          <a:noFill/>
          <a:ln w="19050">
            <a:solidFill>
              <a:srgbClr val="1342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안건 1 번호"/>
          <p:cNvSpPr txBox="1"/>
          <p:nvPr/>
        </p:nvSpPr>
        <p:spPr>
          <a:xfrm>
            <a:off x="5029200" y="22860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안건 1"/>
          <p:cNvSpPr txBox="1"/>
          <p:nvPr/>
        </p:nvSpPr>
        <p:spPr>
          <a:xfrm>
            <a:off x="6035040" y="2286000"/>
            <a:ext cx="5333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사업별 주요 진행 현황 및 이슈 사항</a:t>
            </a:r>
            <a:endParaRPr lang="en-US" sz="2200" dirty="0"/>
          </a:p>
        </p:txBody>
      </p:sp>
      <p:sp>
        <p:nvSpPr>
          <p:cNvPr id="9" name="구분선 1"/>
          <p:cNvSpPr/>
          <p:nvPr/>
        </p:nvSpPr>
        <p:spPr>
          <a:xfrm>
            <a:off x="5029200" y="3337560"/>
            <a:ext cx="6339535" cy="0"/>
          </a:xfrm>
          <a:prstGeom prst="line">
            <a:avLst/>
          </a:prstGeom>
          <a:noFill/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안건 2 번호"/>
          <p:cNvSpPr txBox="1"/>
          <p:nvPr/>
        </p:nvSpPr>
        <p:spPr>
          <a:xfrm>
            <a:off x="5029200" y="33375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안건 2"/>
          <p:cNvSpPr txBox="1"/>
          <p:nvPr/>
        </p:nvSpPr>
        <p:spPr>
          <a:xfrm>
            <a:off x="6035040" y="3337560"/>
            <a:ext cx="53336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10월 </a:t>
            </a:r>
            <a:r>
              <a:rPr lang="ko-KR" alt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</a:t>
            </a:r>
            <a:r>
              <a:rPr lang="en-US" altLang="ko-KR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r>
              <a:rPr lang="ko-KR" alt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</a:t>
            </a:r>
            <a:r>
              <a:rPr 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회의 및 접수 일정</a:t>
            </a:r>
            <a:endParaRPr lang="en-US" sz="2200" dirty="0"/>
          </a:p>
        </p:txBody>
      </p:sp>
      <p:sp>
        <p:nvSpPr>
          <p:cNvPr id="12" name="구분선 2"/>
          <p:cNvSpPr/>
          <p:nvPr/>
        </p:nvSpPr>
        <p:spPr>
          <a:xfrm>
            <a:off x="5029200" y="4389120"/>
            <a:ext cx="6339535" cy="0"/>
          </a:xfrm>
          <a:prstGeom prst="line">
            <a:avLst/>
          </a:prstGeom>
          <a:noFill/>
          <a:ln w="12700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/tmp/claude-0/-home-claude/f736c4b5-079d-5fde-a2b7-e804453dba01/scratchpad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8031" y="6446520"/>
            <a:ext cx="1426464" cy="2006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"/>
          <p:cNvSpPr/>
          <p:nvPr/>
        </p:nvSpPr>
        <p:spPr>
          <a:xfrm>
            <a:off x="457200" y="38404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1-1</a:t>
            </a:r>
            <a:endParaRPr lang="en-US" sz="1700" dirty="0"/>
          </a:p>
        </p:txBody>
      </p:sp>
      <p:sp>
        <p:nvSpPr>
          <p:cNvPr id="3" name="구분"/>
          <p:cNvSpPr txBox="1"/>
          <p:nvPr/>
        </p:nvSpPr>
        <p:spPr>
          <a:xfrm>
            <a:off x="1353312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사업별 진행사항</a:t>
            </a:r>
            <a:endParaRPr lang="en-US" sz="1200" dirty="0"/>
          </a:p>
        </p:txBody>
      </p:sp>
      <p:sp>
        <p:nvSpPr>
          <p:cNvPr id="4" name="제목"/>
          <p:cNvSpPr txBox="1"/>
          <p:nvPr/>
        </p:nvSpPr>
        <p:spPr>
          <a:xfrm>
            <a:off x="1353312" y="585216"/>
            <a:ext cx="10381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환자 중심 협진 지원 AI</a:t>
            </a:r>
            <a:r>
              <a:rPr lang="en-US" sz="24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(멀티모달)</a:t>
            </a:r>
            <a:endParaRPr lang="en-US" sz="2400" dirty="0"/>
          </a:p>
        </p:txBody>
      </p:sp>
      <p:sp>
        <p:nvSpPr>
          <p:cNvPr id="5" name="현황 카드"/>
          <p:cNvSpPr/>
          <p:nvPr/>
        </p:nvSpPr>
        <p:spPr>
          <a:xfrm>
            <a:off x="457200" y="1188720"/>
            <a:ext cx="58521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현황 태그"/>
          <p:cNvSpPr/>
          <p:nvPr/>
        </p:nvSpPr>
        <p:spPr>
          <a:xfrm>
            <a:off x="676656" y="1353312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</a:t>
            </a:r>
            <a:endParaRPr lang="en-US" sz="1400" dirty="0"/>
          </a:p>
        </p:txBody>
      </p:sp>
      <p:sp>
        <p:nvSpPr>
          <p:cNvPr id="8" name="계획 카드"/>
          <p:cNvSpPr/>
          <p:nvPr/>
        </p:nvSpPr>
        <p:spPr>
          <a:xfrm>
            <a:off x="457200" y="4041648"/>
            <a:ext cx="585216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계획 태그"/>
          <p:cNvSpPr/>
          <p:nvPr/>
        </p:nvSpPr>
        <p:spPr>
          <a:xfrm>
            <a:off x="676656" y="4206240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E2E9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400" dirty="0"/>
          </a:p>
        </p:txBody>
      </p:sp>
      <p:sp>
        <p:nvSpPr>
          <p:cNvPr id="11" name="의사결정 카드"/>
          <p:cNvSpPr/>
          <p:nvPr/>
        </p:nvSpPr>
        <p:spPr>
          <a:xfrm>
            <a:off x="6583680" y="1188720"/>
            <a:ext cx="5150815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의사결정 태그"/>
          <p:cNvSpPr/>
          <p:nvPr/>
        </p:nvSpPr>
        <p:spPr>
          <a:xfrm>
            <a:off x="6803136" y="1353312"/>
            <a:ext cx="2597912" cy="402336"/>
          </a:xfrm>
          <a:prstGeom prst="roundRect">
            <a:avLst>
              <a:gd name="adj" fmla="val 50000"/>
            </a:avLst>
          </a:prstGeom>
          <a:solidFill>
            <a:srgbClr val="ED74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및 논의 필요 사항</a:t>
            </a:r>
            <a:endParaRPr lang="en-US" sz="1400" dirty="0"/>
          </a:p>
        </p:txBody>
      </p:sp>
      <p:sp>
        <p:nvSpPr>
          <p:cNvPr id="14" name="요청·이슈 카드"/>
          <p:cNvSpPr/>
          <p:nvPr/>
        </p:nvSpPr>
        <p:spPr>
          <a:xfrm>
            <a:off x="6583680" y="4041648"/>
            <a:ext cx="5150815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요청·이슈 태그"/>
          <p:cNvSpPr/>
          <p:nvPr/>
        </p:nvSpPr>
        <p:spPr>
          <a:xfrm>
            <a:off x="6803136" y="4206240"/>
            <a:ext cx="2256536" cy="40233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2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요청·이슈 및 참고 사항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"/>
          <p:cNvSpPr/>
          <p:nvPr/>
        </p:nvSpPr>
        <p:spPr>
          <a:xfrm>
            <a:off x="457200" y="38404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1-2</a:t>
            </a:r>
            <a:endParaRPr lang="en-US" sz="1700" dirty="0"/>
          </a:p>
        </p:txBody>
      </p:sp>
      <p:sp>
        <p:nvSpPr>
          <p:cNvPr id="3" name="구분"/>
          <p:cNvSpPr txBox="1"/>
          <p:nvPr/>
        </p:nvSpPr>
        <p:spPr>
          <a:xfrm>
            <a:off x="1353312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사업별 진행사항</a:t>
            </a:r>
            <a:endParaRPr lang="en-US" sz="1200" dirty="0"/>
          </a:p>
        </p:txBody>
      </p:sp>
      <p:sp>
        <p:nvSpPr>
          <p:cNvPr id="4" name="제목"/>
          <p:cNvSpPr txBox="1"/>
          <p:nvPr/>
        </p:nvSpPr>
        <p:spPr>
          <a:xfrm>
            <a:off x="1353312" y="585216"/>
            <a:ext cx="10381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의료AI 혁신 생태계 조성 사업</a:t>
            </a:r>
            <a:r>
              <a:rPr lang="en-US" sz="24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(닥터앤서 3.0)</a:t>
            </a:r>
            <a:endParaRPr lang="en-US" sz="2400" dirty="0"/>
          </a:p>
        </p:txBody>
      </p:sp>
      <p:sp>
        <p:nvSpPr>
          <p:cNvPr id="5" name="현황 카드"/>
          <p:cNvSpPr/>
          <p:nvPr/>
        </p:nvSpPr>
        <p:spPr>
          <a:xfrm>
            <a:off x="457200" y="1188720"/>
            <a:ext cx="58521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현황 태그"/>
          <p:cNvSpPr/>
          <p:nvPr/>
        </p:nvSpPr>
        <p:spPr>
          <a:xfrm>
            <a:off x="676656" y="1353312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</a:t>
            </a:r>
            <a:endParaRPr lang="en-US" sz="1400" dirty="0"/>
          </a:p>
        </p:txBody>
      </p:sp>
      <p:sp>
        <p:nvSpPr>
          <p:cNvPr id="9" name="계획 카드"/>
          <p:cNvSpPr/>
          <p:nvPr/>
        </p:nvSpPr>
        <p:spPr>
          <a:xfrm>
            <a:off x="457200" y="4041648"/>
            <a:ext cx="585216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계획 태그"/>
          <p:cNvSpPr/>
          <p:nvPr/>
        </p:nvSpPr>
        <p:spPr>
          <a:xfrm>
            <a:off x="676656" y="4206240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E2E9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400" dirty="0"/>
          </a:p>
        </p:txBody>
      </p:sp>
      <p:sp>
        <p:nvSpPr>
          <p:cNvPr id="12" name="의사결정 카드"/>
          <p:cNvSpPr/>
          <p:nvPr/>
        </p:nvSpPr>
        <p:spPr>
          <a:xfrm>
            <a:off x="6583680" y="1188720"/>
            <a:ext cx="5150815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의사결정 태그"/>
          <p:cNvSpPr/>
          <p:nvPr/>
        </p:nvSpPr>
        <p:spPr>
          <a:xfrm>
            <a:off x="6803136" y="1353312"/>
            <a:ext cx="2597912" cy="402336"/>
          </a:xfrm>
          <a:prstGeom prst="roundRect">
            <a:avLst>
              <a:gd name="adj" fmla="val 50000"/>
            </a:avLst>
          </a:prstGeom>
          <a:solidFill>
            <a:srgbClr val="ED74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및 논의 필요 사항</a:t>
            </a:r>
            <a:endParaRPr lang="en-US" sz="1400" dirty="0"/>
          </a:p>
        </p:txBody>
      </p:sp>
      <p:sp>
        <p:nvSpPr>
          <p:cNvPr id="15" name="요청·이슈 카드"/>
          <p:cNvSpPr/>
          <p:nvPr/>
        </p:nvSpPr>
        <p:spPr>
          <a:xfrm>
            <a:off x="6583680" y="4041648"/>
            <a:ext cx="5150815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요청·이슈 태그"/>
          <p:cNvSpPr/>
          <p:nvPr/>
        </p:nvSpPr>
        <p:spPr>
          <a:xfrm>
            <a:off x="6803136" y="4206240"/>
            <a:ext cx="2256536" cy="40233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2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요청·이슈 및 참고 사항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"/>
          <p:cNvSpPr/>
          <p:nvPr/>
        </p:nvSpPr>
        <p:spPr>
          <a:xfrm>
            <a:off x="457200" y="38404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1-3</a:t>
            </a:r>
            <a:endParaRPr lang="en-US" sz="1700" dirty="0"/>
          </a:p>
        </p:txBody>
      </p:sp>
      <p:sp>
        <p:nvSpPr>
          <p:cNvPr id="3" name="구분"/>
          <p:cNvSpPr txBox="1"/>
          <p:nvPr/>
        </p:nvSpPr>
        <p:spPr>
          <a:xfrm>
            <a:off x="1353312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사업별 진행사항</a:t>
            </a:r>
            <a:endParaRPr lang="en-US" sz="1200" dirty="0"/>
          </a:p>
        </p:txBody>
      </p:sp>
      <p:sp>
        <p:nvSpPr>
          <p:cNvPr id="4" name="제목"/>
          <p:cNvSpPr txBox="1"/>
          <p:nvPr/>
        </p:nvSpPr>
        <p:spPr>
          <a:xfrm>
            <a:off x="1353312" y="585216"/>
            <a:ext cx="10381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데이터 중심병원 지원사업</a:t>
            </a:r>
            <a:r>
              <a:rPr lang="en-US" sz="24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(1/2)</a:t>
            </a:r>
            <a:endParaRPr lang="en-US" sz="2400" dirty="0"/>
          </a:p>
        </p:txBody>
      </p:sp>
      <p:sp>
        <p:nvSpPr>
          <p:cNvPr id="5" name="현황 카드"/>
          <p:cNvSpPr/>
          <p:nvPr/>
        </p:nvSpPr>
        <p:spPr>
          <a:xfrm>
            <a:off x="457200" y="1188720"/>
            <a:ext cx="58521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현황 태그"/>
          <p:cNvSpPr/>
          <p:nvPr/>
        </p:nvSpPr>
        <p:spPr>
          <a:xfrm>
            <a:off x="676656" y="1353312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</a:t>
            </a:r>
            <a:endParaRPr lang="en-US" sz="1400" dirty="0"/>
          </a:p>
        </p:txBody>
      </p:sp>
      <p:sp>
        <p:nvSpPr>
          <p:cNvPr id="9" name="계획 카드"/>
          <p:cNvSpPr/>
          <p:nvPr/>
        </p:nvSpPr>
        <p:spPr>
          <a:xfrm>
            <a:off x="457200" y="4041648"/>
            <a:ext cx="585216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계획 태그"/>
          <p:cNvSpPr/>
          <p:nvPr/>
        </p:nvSpPr>
        <p:spPr>
          <a:xfrm>
            <a:off x="676656" y="4206240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E2E9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400" dirty="0"/>
          </a:p>
        </p:txBody>
      </p:sp>
      <p:sp>
        <p:nvSpPr>
          <p:cNvPr id="12" name="의사결정 카드"/>
          <p:cNvSpPr/>
          <p:nvPr/>
        </p:nvSpPr>
        <p:spPr>
          <a:xfrm>
            <a:off x="6583680" y="1188720"/>
            <a:ext cx="5150815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의사결정 태그"/>
          <p:cNvSpPr/>
          <p:nvPr/>
        </p:nvSpPr>
        <p:spPr>
          <a:xfrm>
            <a:off x="6803136" y="1353312"/>
            <a:ext cx="2597912" cy="402336"/>
          </a:xfrm>
          <a:prstGeom prst="roundRect">
            <a:avLst>
              <a:gd name="adj" fmla="val 50000"/>
            </a:avLst>
          </a:prstGeom>
          <a:solidFill>
            <a:srgbClr val="ED74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및 논의 필요 사항</a:t>
            </a:r>
            <a:endParaRPr lang="en-US" sz="1400" dirty="0"/>
          </a:p>
        </p:txBody>
      </p:sp>
      <p:sp>
        <p:nvSpPr>
          <p:cNvPr id="15" name="요청·이슈 카드"/>
          <p:cNvSpPr/>
          <p:nvPr/>
        </p:nvSpPr>
        <p:spPr>
          <a:xfrm>
            <a:off x="6583680" y="4041648"/>
            <a:ext cx="5150815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요청·이슈 태그"/>
          <p:cNvSpPr/>
          <p:nvPr/>
        </p:nvSpPr>
        <p:spPr>
          <a:xfrm>
            <a:off x="6803136" y="4206240"/>
            <a:ext cx="2256536" cy="40233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2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요청·이슈 및 참고 사항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"/>
          <p:cNvSpPr/>
          <p:nvPr/>
        </p:nvSpPr>
        <p:spPr>
          <a:xfrm>
            <a:off x="457200" y="38404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1-3</a:t>
            </a:r>
            <a:endParaRPr lang="en-US" sz="1700" dirty="0"/>
          </a:p>
        </p:txBody>
      </p:sp>
      <p:sp>
        <p:nvSpPr>
          <p:cNvPr id="3" name="구분"/>
          <p:cNvSpPr txBox="1"/>
          <p:nvPr/>
        </p:nvSpPr>
        <p:spPr>
          <a:xfrm>
            <a:off x="1353312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사업별 진행사항</a:t>
            </a:r>
            <a:endParaRPr lang="en-US" sz="1200" dirty="0"/>
          </a:p>
        </p:txBody>
      </p:sp>
      <p:sp>
        <p:nvSpPr>
          <p:cNvPr id="4" name="제목"/>
          <p:cNvSpPr txBox="1"/>
          <p:nvPr/>
        </p:nvSpPr>
        <p:spPr>
          <a:xfrm>
            <a:off x="1353312" y="585216"/>
            <a:ext cx="10381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데이터 중심병원 지원사업</a:t>
            </a:r>
            <a:r>
              <a:rPr lang="en-US" sz="24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(2/2)</a:t>
            </a:r>
            <a:endParaRPr lang="en-US" sz="2400" dirty="0"/>
          </a:p>
        </p:txBody>
      </p:sp>
      <p:sp>
        <p:nvSpPr>
          <p:cNvPr id="5" name="현황 카드"/>
          <p:cNvSpPr/>
          <p:nvPr/>
        </p:nvSpPr>
        <p:spPr>
          <a:xfrm>
            <a:off x="457200" y="1188720"/>
            <a:ext cx="58521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현황 태그"/>
          <p:cNvSpPr/>
          <p:nvPr/>
        </p:nvSpPr>
        <p:spPr>
          <a:xfrm>
            <a:off x="676656" y="1353312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</a:t>
            </a:r>
            <a:endParaRPr lang="en-US" sz="1400" dirty="0"/>
          </a:p>
        </p:txBody>
      </p:sp>
      <p:sp>
        <p:nvSpPr>
          <p:cNvPr id="8" name="계획 카드"/>
          <p:cNvSpPr/>
          <p:nvPr/>
        </p:nvSpPr>
        <p:spPr>
          <a:xfrm>
            <a:off x="457200" y="4041648"/>
            <a:ext cx="585216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계획 태그"/>
          <p:cNvSpPr/>
          <p:nvPr/>
        </p:nvSpPr>
        <p:spPr>
          <a:xfrm>
            <a:off x="676656" y="4206240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E2E9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400" dirty="0"/>
          </a:p>
        </p:txBody>
      </p:sp>
      <p:sp>
        <p:nvSpPr>
          <p:cNvPr id="11" name="의사결정 카드"/>
          <p:cNvSpPr/>
          <p:nvPr/>
        </p:nvSpPr>
        <p:spPr>
          <a:xfrm>
            <a:off x="6583680" y="1188720"/>
            <a:ext cx="5150815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의사결정 태그"/>
          <p:cNvSpPr/>
          <p:nvPr/>
        </p:nvSpPr>
        <p:spPr>
          <a:xfrm>
            <a:off x="6803136" y="1353312"/>
            <a:ext cx="2597912" cy="402336"/>
          </a:xfrm>
          <a:prstGeom prst="roundRect">
            <a:avLst>
              <a:gd name="adj" fmla="val 50000"/>
            </a:avLst>
          </a:prstGeom>
          <a:solidFill>
            <a:srgbClr val="ED74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및 논의 필요 사항</a:t>
            </a:r>
            <a:endParaRPr lang="en-US" sz="1400" dirty="0"/>
          </a:p>
        </p:txBody>
      </p:sp>
      <p:sp>
        <p:nvSpPr>
          <p:cNvPr id="14" name="요청·이슈 카드"/>
          <p:cNvSpPr/>
          <p:nvPr/>
        </p:nvSpPr>
        <p:spPr>
          <a:xfrm>
            <a:off x="6583680" y="4041648"/>
            <a:ext cx="5150815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요청·이슈 태그"/>
          <p:cNvSpPr/>
          <p:nvPr/>
        </p:nvSpPr>
        <p:spPr>
          <a:xfrm>
            <a:off x="6803136" y="4206240"/>
            <a:ext cx="2256536" cy="40233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2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요청·이슈 및 참고 사항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"/>
          <p:cNvSpPr/>
          <p:nvPr/>
        </p:nvSpPr>
        <p:spPr>
          <a:xfrm>
            <a:off x="457200" y="38404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1-4</a:t>
            </a:r>
            <a:endParaRPr lang="en-US" sz="1700" dirty="0"/>
          </a:p>
        </p:txBody>
      </p:sp>
      <p:sp>
        <p:nvSpPr>
          <p:cNvPr id="3" name="구분"/>
          <p:cNvSpPr txBox="1"/>
          <p:nvPr/>
        </p:nvSpPr>
        <p:spPr>
          <a:xfrm>
            <a:off x="1353312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사업별 진행사항</a:t>
            </a:r>
            <a:endParaRPr lang="en-US" sz="1200" dirty="0"/>
          </a:p>
        </p:txBody>
      </p:sp>
      <p:sp>
        <p:nvSpPr>
          <p:cNvPr id="4" name="제목"/>
          <p:cNvSpPr txBox="1"/>
          <p:nvPr/>
        </p:nvSpPr>
        <p:spPr>
          <a:xfrm>
            <a:off x="1353312" y="585216"/>
            <a:ext cx="10381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건강보험 빅데이터 분석센터</a:t>
            </a:r>
            <a:endParaRPr lang="en-US" sz="2400" dirty="0"/>
          </a:p>
        </p:txBody>
      </p:sp>
      <p:sp>
        <p:nvSpPr>
          <p:cNvPr id="5" name="현황 카드"/>
          <p:cNvSpPr/>
          <p:nvPr/>
        </p:nvSpPr>
        <p:spPr>
          <a:xfrm>
            <a:off x="457200" y="1188720"/>
            <a:ext cx="58521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현황 태그"/>
          <p:cNvSpPr/>
          <p:nvPr/>
        </p:nvSpPr>
        <p:spPr>
          <a:xfrm>
            <a:off x="676656" y="1353312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</a:t>
            </a:r>
            <a:endParaRPr lang="en-US" sz="1400" dirty="0"/>
          </a:p>
        </p:txBody>
      </p:sp>
      <p:sp>
        <p:nvSpPr>
          <p:cNvPr id="8" name="계획 카드"/>
          <p:cNvSpPr/>
          <p:nvPr/>
        </p:nvSpPr>
        <p:spPr>
          <a:xfrm>
            <a:off x="457200" y="4041648"/>
            <a:ext cx="585216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계획 태그"/>
          <p:cNvSpPr/>
          <p:nvPr/>
        </p:nvSpPr>
        <p:spPr>
          <a:xfrm>
            <a:off x="676656" y="4206240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E2E9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400" dirty="0"/>
          </a:p>
        </p:txBody>
      </p:sp>
      <p:sp>
        <p:nvSpPr>
          <p:cNvPr id="11" name="의사결정 카드"/>
          <p:cNvSpPr/>
          <p:nvPr/>
        </p:nvSpPr>
        <p:spPr>
          <a:xfrm>
            <a:off x="6583680" y="1188720"/>
            <a:ext cx="5150815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의사결정 태그"/>
          <p:cNvSpPr/>
          <p:nvPr/>
        </p:nvSpPr>
        <p:spPr>
          <a:xfrm>
            <a:off x="6803136" y="1353312"/>
            <a:ext cx="2597912" cy="402336"/>
          </a:xfrm>
          <a:prstGeom prst="roundRect">
            <a:avLst>
              <a:gd name="adj" fmla="val 50000"/>
            </a:avLst>
          </a:prstGeom>
          <a:solidFill>
            <a:srgbClr val="ED74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및 논의 필요 사항</a:t>
            </a:r>
            <a:endParaRPr lang="en-US" sz="1400" dirty="0"/>
          </a:p>
        </p:txBody>
      </p:sp>
      <p:sp>
        <p:nvSpPr>
          <p:cNvPr id="14" name="요청·이슈 카드"/>
          <p:cNvSpPr/>
          <p:nvPr/>
        </p:nvSpPr>
        <p:spPr>
          <a:xfrm>
            <a:off x="6583680" y="4041648"/>
            <a:ext cx="5150815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요청·이슈 태그"/>
          <p:cNvSpPr/>
          <p:nvPr/>
        </p:nvSpPr>
        <p:spPr>
          <a:xfrm>
            <a:off x="6803136" y="4206240"/>
            <a:ext cx="2256536" cy="40233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2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요청·이슈 및 참고 사항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"/>
          <p:cNvSpPr/>
          <p:nvPr/>
        </p:nvSpPr>
        <p:spPr>
          <a:xfrm>
            <a:off x="457200" y="38404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1-5</a:t>
            </a:r>
            <a:endParaRPr lang="en-US" sz="1700" dirty="0"/>
          </a:p>
        </p:txBody>
      </p:sp>
      <p:sp>
        <p:nvSpPr>
          <p:cNvPr id="3" name="구분"/>
          <p:cNvSpPr txBox="1"/>
          <p:nvPr/>
        </p:nvSpPr>
        <p:spPr>
          <a:xfrm>
            <a:off x="1353312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사업별 진행사항</a:t>
            </a:r>
            <a:endParaRPr lang="en-US" sz="1200" dirty="0"/>
          </a:p>
        </p:txBody>
      </p:sp>
      <p:sp>
        <p:nvSpPr>
          <p:cNvPr id="4" name="제목"/>
          <p:cNvSpPr txBox="1"/>
          <p:nvPr/>
        </p:nvSpPr>
        <p:spPr>
          <a:xfrm>
            <a:off x="1353312" y="585216"/>
            <a:ext cx="10381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AI AX 강화 컨설팅 사업 및 의료 AI 보건의료인 직무 교육 사업</a:t>
            </a:r>
            <a:endParaRPr lang="en-US" sz="2400" dirty="0"/>
          </a:p>
        </p:txBody>
      </p:sp>
      <p:sp>
        <p:nvSpPr>
          <p:cNvPr id="5" name="AX 컨설팅 현황 카드"/>
          <p:cNvSpPr/>
          <p:nvPr/>
        </p:nvSpPr>
        <p:spPr>
          <a:xfrm>
            <a:off x="457200" y="1188720"/>
            <a:ext cx="5852160" cy="512064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X 컨설팅 현황 태그"/>
          <p:cNvSpPr/>
          <p:nvPr/>
        </p:nvSpPr>
        <p:spPr>
          <a:xfrm>
            <a:off x="676656" y="1353312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</a:t>
            </a:r>
            <a:endParaRPr lang="en-US" sz="1400" dirty="0"/>
          </a:p>
        </p:txBody>
      </p:sp>
      <p:sp>
        <p:nvSpPr>
          <p:cNvPr id="10" name="직무교육 현황 본문"/>
          <p:cNvSpPr txBox="1"/>
          <p:nvPr/>
        </p:nvSpPr>
        <p:spPr>
          <a:xfrm>
            <a:off x="676656" y="4562856"/>
            <a:ext cx="541324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spcAft>
                <a:spcPts val="200"/>
              </a:spcAft>
              <a:buNone/>
            </a:pPr>
            <a:endParaRPr lang="en-US" sz="1200" dirty="0"/>
          </a:p>
        </p:txBody>
      </p:sp>
      <p:sp>
        <p:nvSpPr>
          <p:cNvPr id="11" name="일정 및 계획 카드"/>
          <p:cNvSpPr/>
          <p:nvPr/>
        </p:nvSpPr>
        <p:spPr>
          <a:xfrm>
            <a:off x="6583680" y="1188720"/>
            <a:ext cx="5150815" cy="512064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일정 및 계획 태그"/>
          <p:cNvSpPr/>
          <p:nvPr/>
        </p:nvSpPr>
        <p:spPr>
          <a:xfrm>
            <a:off x="6803136" y="1353312"/>
            <a:ext cx="1438656" cy="402336"/>
          </a:xfrm>
          <a:prstGeom prst="roundRect">
            <a:avLst>
              <a:gd name="adj" fmla="val 50000"/>
            </a:avLst>
          </a:prstGeom>
          <a:solidFill>
            <a:srgbClr val="E2E9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및 계획</a:t>
            </a:r>
            <a:endParaRPr lang="en-US" sz="1400" dirty="0"/>
          </a:p>
        </p:txBody>
      </p:sp>
      <p:sp>
        <p:nvSpPr>
          <p:cNvPr id="13" name="일정 및 계획 본문"/>
          <p:cNvSpPr txBox="1"/>
          <p:nvPr/>
        </p:nvSpPr>
        <p:spPr>
          <a:xfrm>
            <a:off x="6803136" y="1901952"/>
            <a:ext cx="4711903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ts val="1560"/>
              </a:lnSpc>
              <a:buSzPct val="100000"/>
              <a:buChar char="▪"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AI 보건의료인 직무교육 일정</a:t>
            </a:r>
            <a:endParaRPr lang="en-US" sz="1200" dirty="0"/>
          </a:p>
          <a:p>
            <a:pPr marL="330200" lvl="1" indent="-165100">
              <a:lnSpc>
                <a:spcPts val="1560"/>
              </a:lnSpc>
              <a:buSzPct val="100000"/>
              <a:buChar char="–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대구차여성의원</a:t>
            </a:r>
            <a:endParaRPr lang="en-US" sz="1200" dirty="0"/>
          </a:p>
          <a:p>
            <a:pPr marL="330200" lvl="1" indent="-165100">
              <a:lnSpc>
                <a:spcPts val="1560"/>
              </a:lnSpc>
              <a:buSzPct val="100000"/>
              <a:buChar char=" 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(1) 2026.9.29.(화) ~ 2026.10.1.(수) ZOOM</a:t>
            </a:r>
            <a:endParaRPr lang="en-US" sz="1200" dirty="0"/>
          </a:p>
          <a:p>
            <a:pPr marL="330200" lvl="1" indent="-165100">
              <a:lnSpc>
                <a:spcPts val="1560"/>
              </a:lnSpc>
              <a:buSzPct val="100000"/>
              <a:buChar char=" 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(2) 2026.10.12.(월) ~ 2026.10.16.(금) 대면</a:t>
            </a:r>
            <a:endParaRPr lang="en-US" sz="1200" dirty="0"/>
          </a:p>
          <a:p>
            <a:pPr marL="330200" lvl="1" indent="-165100">
              <a:lnSpc>
                <a:spcPts val="1560"/>
              </a:lnSpc>
              <a:buSzPct val="100000"/>
              <a:buChar char="–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분당차병원</a:t>
            </a:r>
            <a:endParaRPr lang="en-US" sz="1200" dirty="0"/>
          </a:p>
          <a:p>
            <a:pPr marL="330200" lvl="1" indent="-165100">
              <a:lnSpc>
                <a:spcPts val="1560"/>
              </a:lnSpc>
              <a:buSzPct val="100000"/>
              <a:buChar char=" 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(1) 2026.9.29.(화) ~ 2026.10.1.(수) ZOOM</a:t>
            </a:r>
            <a:endParaRPr lang="en-US" sz="1200" dirty="0"/>
          </a:p>
          <a:p>
            <a:pPr marL="330200" lvl="1" indent="-165100">
              <a:lnSpc>
                <a:spcPts val="1560"/>
              </a:lnSpc>
              <a:buSzPct val="100000"/>
              <a:buChar char=" 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(2) 2026.10.19.(월) ~ 2026.10.23.(금) 대면</a:t>
            </a:r>
            <a:endParaRPr lang="en-US" sz="1200" dirty="0"/>
          </a:p>
          <a:p>
            <a:pPr marL="165100" indent="-165100">
              <a:lnSpc>
                <a:spcPts val="1560"/>
              </a:lnSpc>
              <a:spcBef>
                <a:spcPts val="700"/>
              </a:spcBef>
              <a:buSzPct val="100000"/>
              <a:buChar char="▪"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행사 일정</a:t>
            </a:r>
            <a:endParaRPr lang="en-US" sz="1200" dirty="0"/>
          </a:p>
          <a:p>
            <a:pPr marL="330200" lvl="1" indent="-165100">
              <a:lnSpc>
                <a:spcPts val="1560"/>
              </a:lnSpc>
              <a:buSzPct val="100000"/>
              <a:buChar char="–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데이터 활용 경진대회 시상식</a:t>
            </a:r>
            <a:endParaRPr lang="en-US" sz="1200" dirty="0"/>
          </a:p>
          <a:p>
            <a:pPr marL="330200" lvl="1" indent="-165100">
              <a:lnSpc>
                <a:spcPts val="1560"/>
              </a:lnSpc>
              <a:buSzPct val="100000"/>
              <a:buChar char=" 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2026.11.11.(수) 14:00 ~ 16:00 / 대강당 B2F</a:t>
            </a:r>
            <a:endParaRPr lang="en-US" sz="1200" dirty="0"/>
          </a:p>
          <a:p>
            <a:pPr marL="330200" lvl="1" indent="-165100">
              <a:lnSpc>
                <a:spcPts val="1560"/>
              </a:lnSpc>
              <a:buSzPct val="100000"/>
              <a:buChar char="–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 AI 보건의료인 직무교육사업 성과 교류회</a:t>
            </a:r>
            <a:endParaRPr lang="en-US" sz="1200" dirty="0"/>
          </a:p>
          <a:p>
            <a:pPr marL="330200" lvl="1" indent="-165100">
              <a:lnSpc>
                <a:spcPts val="1560"/>
              </a:lnSpc>
              <a:buSzPct val="100000"/>
              <a:buChar char=" 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2026.11.26.(목) / 장소 추후 안내 예정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"/>
          <p:cNvSpPr/>
          <p:nvPr/>
        </p:nvSpPr>
        <p:spPr>
          <a:xfrm>
            <a:off x="457200" y="38404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1-6</a:t>
            </a:r>
            <a:endParaRPr lang="en-US" sz="1700" dirty="0"/>
          </a:p>
        </p:txBody>
      </p:sp>
      <p:sp>
        <p:nvSpPr>
          <p:cNvPr id="3" name="구분"/>
          <p:cNvSpPr txBox="1"/>
          <p:nvPr/>
        </p:nvSpPr>
        <p:spPr>
          <a:xfrm>
            <a:off x="1353312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사업별 진행사항</a:t>
            </a:r>
            <a:endParaRPr lang="en-US" sz="1200" dirty="0"/>
          </a:p>
        </p:txBody>
      </p:sp>
      <p:sp>
        <p:nvSpPr>
          <p:cNvPr id="4" name="제목"/>
          <p:cNvSpPr txBox="1"/>
          <p:nvPr/>
        </p:nvSpPr>
        <p:spPr>
          <a:xfrm>
            <a:off x="1353312" y="585216"/>
            <a:ext cx="10381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Physical AI 기반 의료로봇 기술통합센터 구축 사업</a:t>
            </a:r>
            <a:endParaRPr lang="en-US" sz="2400" dirty="0"/>
          </a:p>
        </p:txBody>
      </p:sp>
      <p:sp>
        <p:nvSpPr>
          <p:cNvPr id="5" name="현황 카드"/>
          <p:cNvSpPr/>
          <p:nvPr/>
        </p:nvSpPr>
        <p:spPr>
          <a:xfrm>
            <a:off x="457200" y="1188720"/>
            <a:ext cx="58521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현황 태그"/>
          <p:cNvSpPr/>
          <p:nvPr/>
        </p:nvSpPr>
        <p:spPr>
          <a:xfrm>
            <a:off x="676656" y="1353312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</a:t>
            </a:r>
            <a:endParaRPr lang="en-US" sz="1400" dirty="0"/>
          </a:p>
        </p:txBody>
      </p:sp>
      <p:sp>
        <p:nvSpPr>
          <p:cNvPr id="8" name="계획 카드"/>
          <p:cNvSpPr/>
          <p:nvPr/>
        </p:nvSpPr>
        <p:spPr>
          <a:xfrm>
            <a:off x="457200" y="4041648"/>
            <a:ext cx="585216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계획 태그"/>
          <p:cNvSpPr/>
          <p:nvPr/>
        </p:nvSpPr>
        <p:spPr>
          <a:xfrm>
            <a:off x="676656" y="4206240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E2E9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400" dirty="0"/>
          </a:p>
        </p:txBody>
      </p:sp>
      <p:sp>
        <p:nvSpPr>
          <p:cNvPr id="11" name="의사결정 카드"/>
          <p:cNvSpPr/>
          <p:nvPr/>
        </p:nvSpPr>
        <p:spPr>
          <a:xfrm>
            <a:off x="6583680" y="1188720"/>
            <a:ext cx="5150815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의사결정 태그"/>
          <p:cNvSpPr/>
          <p:nvPr/>
        </p:nvSpPr>
        <p:spPr>
          <a:xfrm>
            <a:off x="6803136" y="1353312"/>
            <a:ext cx="2597912" cy="402336"/>
          </a:xfrm>
          <a:prstGeom prst="roundRect">
            <a:avLst>
              <a:gd name="adj" fmla="val 50000"/>
            </a:avLst>
          </a:prstGeom>
          <a:solidFill>
            <a:srgbClr val="ED74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및 논의 필요 사항</a:t>
            </a:r>
            <a:endParaRPr lang="en-US" sz="1400" dirty="0"/>
          </a:p>
        </p:txBody>
      </p:sp>
      <p:sp>
        <p:nvSpPr>
          <p:cNvPr id="14" name="요청·이슈 카드"/>
          <p:cNvSpPr/>
          <p:nvPr/>
        </p:nvSpPr>
        <p:spPr>
          <a:xfrm>
            <a:off x="6583680" y="4041648"/>
            <a:ext cx="5150815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요청·이슈 태그"/>
          <p:cNvSpPr/>
          <p:nvPr/>
        </p:nvSpPr>
        <p:spPr>
          <a:xfrm>
            <a:off x="6803136" y="4206240"/>
            <a:ext cx="2256536" cy="40233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2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요청·이슈 및 참고 사항</a:t>
            </a:r>
            <a:endParaRPr lang="en-US" sz="1400" dirty="0"/>
          </a:p>
        </p:txBody>
      </p:sp>
      <p:sp>
        <p:nvSpPr>
          <p:cNvPr id="16" name="요청·이슈 비어있음"/>
          <p:cNvSpPr txBox="1"/>
          <p:nvPr/>
        </p:nvSpPr>
        <p:spPr>
          <a:xfrm>
            <a:off x="9224264" y="42062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사항 없음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"/>
          <p:cNvSpPr/>
          <p:nvPr/>
        </p:nvSpPr>
        <p:spPr>
          <a:xfrm>
            <a:off x="457200" y="38404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1-7</a:t>
            </a:r>
            <a:endParaRPr lang="en-US" sz="1700" dirty="0"/>
          </a:p>
        </p:txBody>
      </p:sp>
      <p:sp>
        <p:nvSpPr>
          <p:cNvPr id="3" name="구분"/>
          <p:cNvSpPr txBox="1"/>
          <p:nvPr/>
        </p:nvSpPr>
        <p:spPr>
          <a:xfrm>
            <a:off x="1353312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사업별 진행사항</a:t>
            </a:r>
            <a:endParaRPr lang="en-US" sz="1200" dirty="0"/>
          </a:p>
        </p:txBody>
      </p:sp>
      <p:sp>
        <p:nvSpPr>
          <p:cNvPr id="4" name="제목"/>
          <p:cNvSpPr txBox="1"/>
          <p:nvPr/>
        </p:nvSpPr>
        <p:spPr>
          <a:xfrm>
            <a:off x="1353312" y="585216"/>
            <a:ext cx="10381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독자 파운데이션 모델</a:t>
            </a:r>
            <a:endParaRPr lang="en-US" sz="2400" dirty="0"/>
          </a:p>
        </p:txBody>
      </p:sp>
      <p:sp>
        <p:nvSpPr>
          <p:cNvPr id="5" name="현황 카드"/>
          <p:cNvSpPr/>
          <p:nvPr/>
        </p:nvSpPr>
        <p:spPr>
          <a:xfrm>
            <a:off x="457200" y="1188720"/>
            <a:ext cx="58521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현황 태그"/>
          <p:cNvSpPr/>
          <p:nvPr/>
        </p:nvSpPr>
        <p:spPr>
          <a:xfrm>
            <a:off x="676656" y="1353312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</a:t>
            </a:r>
            <a:endParaRPr lang="en-US" sz="1400" dirty="0"/>
          </a:p>
        </p:txBody>
      </p:sp>
      <p:sp>
        <p:nvSpPr>
          <p:cNvPr id="8" name="계획 카드"/>
          <p:cNvSpPr/>
          <p:nvPr/>
        </p:nvSpPr>
        <p:spPr>
          <a:xfrm>
            <a:off x="457200" y="4041648"/>
            <a:ext cx="585216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계획 태그"/>
          <p:cNvSpPr/>
          <p:nvPr/>
        </p:nvSpPr>
        <p:spPr>
          <a:xfrm>
            <a:off x="676656" y="4206240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E2E9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400" dirty="0"/>
          </a:p>
        </p:txBody>
      </p:sp>
      <p:sp>
        <p:nvSpPr>
          <p:cNvPr id="11" name="의사결정 카드"/>
          <p:cNvSpPr/>
          <p:nvPr/>
        </p:nvSpPr>
        <p:spPr>
          <a:xfrm>
            <a:off x="6583680" y="1188720"/>
            <a:ext cx="5150815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의사결정 태그"/>
          <p:cNvSpPr/>
          <p:nvPr/>
        </p:nvSpPr>
        <p:spPr>
          <a:xfrm>
            <a:off x="6803136" y="1353312"/>
            <a:ext cx="2597912" cy="402336"/>
          </a:xfrm>
          <a:prstGeom prst="roundRect">
            <a:avLst>
              <a:gd name="adj" fmla="val 50000"/>
            </a:avLst>
          </a:prstGeom>
          <a:solidFill>
            <a:srgbClr val="ED74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및 논의 필요 사항</a:t>
            </a:r>
            <a:endParaRPr lang="en-US" sz="1400" dirty="0"/>
          </a:p>
        </p:txBody>
      </p:sp>
      <p:sp>
        <p:nvSpPr>
          <p:cNvPr id="13" name="의사결정 비어있음"/>
          <p:cNvSpPr txBox="1"/>
          <p:nvPr/>
        </p:nvSpPr>
        <p:spPr>
          <a:xfrm>
            <a:off x="9565640" y="13533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사항 없음</a:t>
            </a:r>
            <a:endParaRPr lang="en-US" sz="1200" dirty="0"/>
          </a:p>
        </p:txBody>
      </p:sp>
      <p:sp>
        <p:nvSpPr>
          <p:cNvPr id="14" name="요청·이슈 카드"/>
          <p:cNvSpPr/>
          <p:nvPr/>
        </p:nvSpPr>
        <p:spPr>
          <a:xfrm>
            <a:off x="6583680" y="4041648"/>
            <a:ext cx="5150815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요청·이슈 태그"/>
          <p:cNvSpPr/>
          <p:nvPr/>
        </p:nvSpPr>
        <p:spPr>
          <a:xfrm>
            <a:off x="6803136" y="4206240"/>
            <a:ext cx="2256536" cy="40233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2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요청·이슈 및 참고 사항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"/>
          <p:cNvSpPr/>
          <p:nvPr/>
        </p:nvSpPr>
        <p:spPr>
          <a:xfrm>
            <a:off x="457200" y="38404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1-8</a:t>
            </a:r>
            <a:endParaRPr lang="en-US" sz="1700" dirty="0"/>
          </a:p>
        </p:txBody>
      </p:sp>
      <p:sp>
        <p:nvSpPr>
          <p:cNvPr id="3" name="구분"/>
          <p:cNvSpPr txBox="1"/>
          <p:nvPr/>
        </p:nvSpPr>
        <p:spPr>
          <a:xfrm>
            <a:off x="1353312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사업별 진행사항</a:t>
            </a:r>
            <a:endParaRPr lang="en-US" sz="1200" dirty="0"/>
          </a:p>
        </p:txBody>
      </p:sp>
      <p:sp>
        <p:nvSpPr>
          <p:cNvPr id="4" name="제목"/>
          <p:cNvSpPr txBox="1"/>
          <p:nvPr/>
        </p:nvSpPr>
        <p:spPr>
          <a:xfrm>
            <a:off x="1353312" y="585216"/>
            <a:ext cx="10381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간호 스케줄 배정 자동화 시스템 구축</a:t>
            </a:r>
            <a:r>
              <a:rPr lang="en-US" sz="24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(삼일 PwC 협업)</a:t>
            </a:r>
            <a:endParaRPr lang="en-US" sz="2400" dirty="0"/>
          </a:p>
        </p:txBody>
      </p:sp>
      <p:sp>
        <p:nvSpPr>
          <p:cNvPr id="5" name="현황 카드"/>
          <p:cNvSpPr/>
          <p:nvPr/>
        </p:nvSpPr>
        <p:spPr>
          <a:xfrm>
            <a:off x="457200" y="1188720"/>
            <a:ext cx="5852160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현황 태그"/>
          <p:cNvSpPr/>
          <p:nvPr/>
        </p:nvSpPr>
        <p:spPr>
          <a:xfrm>
            <a:off x="676656" y="1353312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</a:t>
            </a:r>
            <a:endParaRPr lang="en-US" sz="1400" dirty="0"/>
          </a:p>
        </p:txBody>
      </p:sp>
      <p:sp>
        <p:nvSpPr>
          <p:cNvPr id="8" name="계획 카드"/>
          <p:cNvSpPr/>
          <p:nvPr/>
        </p:nvSpPr>
        <p:spPr>
          <a:xfrm>
            <a:off x="457200" y="4041648"/>
            <a:ext cx="585216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계획 태그"/>
          <p:cNvSpPr/>
          <p:nvPr/>
        </p:nvSpPr>
        <p:spPr>
          <a:xfrm>
            <a:off x="676656" y="4206240"/>
            <a:ext cx="812800" cy="402336"/>
          </a:xfrm>
          <a:prstGeom prst="roundRect">
            <a:avLst>
              <a:gd name="adj" fmla="val 50000"/>
            </a:avLst>
          </a:prstGeom>
          <a:solidFill>
            <a:srgbClr val="E2E9F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42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</a:t>
            </a:r>
            <a:endParaRPr lang="en-US" sz="1400" dirty="0"/>
          </a:p>
        </p:txBody>
      </p:sp>
      <p:sp>
        <p:nvSpPr>
          <p:cNvPr id="10" name="계획 비어있음"/>
          <p:cNvSpPr txBox="1"/>
          <p:nvPr/>
        </p:nvSpPr>
        <p:spPr>
          <a:xfrm>
            <a:off x="1654048" y="42062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사항 없음</a:t>
            </a:r>
            <a:endParaRPr lang="en-US" sz="1200" dirty="0"/>
          </a:p>
        </p:txBody>
      </p:sp>
      <p:sp>
        <p:nvSpPr>
          <p:cNvPr id="11" name="의사결정 카드"/>
          <p:cNvSpPr/>
          <p:nvPr/>
        </p:nvSpPr>
        <p:spPr>
          <a:xfrm>
            <a:off x="6583680" y="1188720"/>
            <a:ext cx="5150815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의사결정 태그"/>
          <p:cNvSpPr/>
          <p:nvPr/>
        </p:nvSpPr>
        <p:spPr>
          <a:xfrm>
            <a:off x="6803136" y="1353312"/>
            <a:ext cx="2597912" cy="402336"/>
          </a:xfrm>
          <a:prstGeom prst="roundRect">
            <a:avLst>
              <a:gd name="adj" fmla="val 50000"/>
            </a:avLst>
          </a:prstGeom>
          <a:solidFill>
            <a:srgbClr val="ED74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및 논의 필요 사항</a:t>
            </a:r>
            <a:endParaRPr lang="en-US" sz="1400" dirty="0"/>
          </a:p>
        </p:txBody>
      </p:sp>
      <p:sp>
        <p:nvSpPr>
          <p:cNvPr id="14" name="요청·이슈 카드"/>
          <p:cNvSpPr/>
          <p:nvPr/>
        </p:nvSpPr>
        <p:spPr>
          <a:xfrm>
            <a:off x="6583680" y="4041648"/>
            <a:ext cx="5150815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9525">
            <a:solidFill>
              <a:srgbClr val="DCE2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요청·이슈 태그"/>
          <p:cNvSpPr/>
          <p:nvPr/>
        </p:nvSpPr>
        <p:spPr>
          <a:xfrm>
            <a:off x="6803136" y="4206240"/>
            <a:ext cx="2256536" cy="40233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2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요청·이슈 및 참고 사항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번호"/>
          <p:cNvSpPr/>
          <p:nvPr/>
        </p:nvSpPr>
        <p:spPr>
          <a:xfrm>
            <a:off x="457200" y="38404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13426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700" dirty="0"/>
          </a:p>
        </p:txBody>
      </p:sp>
      <p:sp>
        <p:nvSpPr>
          <p:cNvPr id="3" name="구분"/>
          <p:cNvSpPr txBox="1"/>
          <p:nvPr/>
        </p:nvSpPr>
        <p:spPr>
          <a:xfrm>
            <a:off x="1353312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74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일정</a:t>
            </a:r>
            <a:endParaRPr lang="en-US" sz="1200" dirty="0"/>
          </a:p>
        </p:txBody>
      </p:sp>
      <p:sp>
        <p:nvSpPr>
          <p:cNvPr id="4" name="제목"/>
          <p:cNvSpPr txBox="1"/>
          <p:nvPr/>
        </p:nvSpPr>
        <p:spPr>
          <a:xfrm>
            <a:off x="1353312" y="585216"/>
            <a:ext cx="103811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2D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10월 주요 회의 및 접수 일정</a:t>
            </a:r>
            <a:endParaRPr lang="en-US" sz="2400" dirty="0"/>
          </a:p>
        </p:txBody>
      </p:sp>
      <p:graphicFrame>
        <p:nvGraphicFramePr>
          <p:cNvPr id="13" name="일정 달력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218808"/>
              </p:ext>
            </p:extLst>
          </p:nvPr>
        </p:nvGraphicFramePr>
        <p:xfrm>
          <a:off x="457200" y="1143000"/>
          <a:ext cx="11277294" cy="5110671"/>
        </p:xfrm>
        <a:graphic>
          <a:graphicData uri="http://schemas.openxmlformats.org/drawingml/2006/table">
            <a:tbl>
              <a:tblPr/>
              <a:tblGrid>
                <a:gridCol w="1611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10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C9A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FD6F2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342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2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4F4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</a:t>
                      </a:r>
                      <a:endParaRPr lang="en-US" sz="1200" dirty="0">
                        <a:solidFill>
                          <a:srgbClr val="FF4F4F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>
                        <a:lnSpc>
                          <a:spcPts val="125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[직무교육]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>
                        <a:lnSpc>
                          <a:spcPts val="125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분당 교육 (~10/23)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>
                        <a:lnSpc>
                          <a:spcPts val="125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[경진대회]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>
                        <a:lnSpc>
                          <a:spcPts val="125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TRACK1 2차 대면평가 (09:00~11:00)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>
                        <a:lnSpc>
                          <a:spcPts val="125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[닥터앤서]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>
                        <a:lnSpc>
                          <a:spcPts val="125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정기 PM 회의 (16:00, 온라인)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 algn="ctr">
                        <a:lnSpc>
                          <a:spcPts val="125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[워킹그룹]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 algn="ctr">
                        <a:lnSpc>
                          <a:spcPts val="125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정기회의 (12:00)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24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4F4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200" dirty="0">
                        <a:solidFill>
                          <a:srgbClr val="FF4F4F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>
                        <a:lnSpc>
                          <a:spcPts val="125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[멀티모달]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>
                        <a:lnSpc>
                          <a:spcPts val="125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2주관 10월 정례회의 (16:00, 오프라인)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>
                        <a:lnSpc>
                          <a:spcPts val="125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[의료데이터중심병원]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  <a:p>
                      <a:pPr marL="0" indent="0">
                        <a:lnSpc>
                          <a:spcPts val="125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컨소시엄 점검회의 (13:00, 온라인)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31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4F4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11/1</a:t>
                      </a:r>
                      <a:endParaRPr lang="en-US" sz="1200" dirty="0">
                        <a:solidFill>
                          <a:srgbClr val="FF4F4F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4F4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</a:t>
                      </a:r>
                      <a:endParaRPr lang="en-US" sz="1200" dirty="0">
                        <a:solidFill>
                          <a:srgbClr val="FF4F4F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FF4F4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200" dirty="0">
                        <a:solidFill>
                          <a:srgbClr val="FF4F4F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2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</a:t>
                      </a:r>
                      <a:endParaRPr lang="en-US" sz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4008" marR="64008" marT="36576" marB="27432">
                    <a:lnL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 Bundang">
  <a:themeElements>
    <a:clrScheme name="CHA Bundang">
      <a:dk1>
        <a:srgbClr val="1F2937"/>
      </a:dk1>
      <a:lt1>
        <a:srgbClr val="FFFFFF"/>
      </a:lt1>
      <a:dk2>
        <a:srgbClr val="13426B"/>
      </a:dk2>
      <a:lt2>
        <a:srgbClr val="F4F6F9"/>
      </a:lt2>
      <a:accent1>
        <a:srgbClr val="13426B"/>
      </a:accent1>
      <a:accent2>
        <a:srgbClr val="ED7422"/>
      </a:accent2>
      <a:accent3>
        <a:srgbClr val="2E6DB4"/>
      </a:accent3>
      <a:accent4>
        <a:srgbClr val="6B8BAE"/>
      </a:accent4>
      <a:accent5>
        <a:srgbClr val="F2A66E"/>
      </a:accent5>
      <a:accent6>
        <a:srgbClr val="8A94A3"/>
      </a:accent6>
      <a:hlink>
        <a:srgbClr val="2E6DB4"/>
      </a:hlink>
      <a:folHlink>
        <a:srgbClr val="6B8BAE"/>
      </a:folHlink>
    </a:clrScheme>
    <a:fontScheme name="CHA Bundang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e6b3d1b-1efa-4aae-9053-200e21d8bbfc" xsi:nil="true"/>
    <lcf76f155ced4ddcb4097134ff3c332f xmlns="ab708217-bac6-4a67-bccd-e1974bfcd60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5B8D9233692A04895CFD4DD873C8953" ma:contentTypeVersion="14" ma:contentTypeDescription="새 문서를 만듭니다." ma:contentTypeScope="" ma:versionID="1d7095dfcea05fc7f2f23f98f1c94a36">
  <xsd:schema xmlns:xsd="http://www.w3.org/2001/XMLSchema" xmlns:xs="http://www.w3.org/2001/XMLSchema" xmlns:p="http://schemas.microsoft.com/office/2006/metadata/properties" xmlns:ns2="ab708217-bac6-4a67-bccd-e1974bfcd60a" xmlns:ns3="8e6b3d1b-1efa-4aae-9053-200e21d8bbfc" targetNamespace="http://schemas.microsoft.com/office/2006/metadata/properties" ma:root="true" ma:fieldsID="4f081041264a6a051477bb191e3c579f" ns2:_="" ns3:_="">
    <xsd:import namespace="ab708217-bac6-4a67-bccd-e1974bfcd60a"/>
    <xsd:import namespace="8e6b3d1b-1efa-4aae-9053-200e21d8bb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708217-bac6-4a67-bccd-e1974bfcd6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cbbc3c60-c771-4570-8eaa-e5d9b9edf9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6b3d1b-1efa-4aae-9053-200e21d8bbf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01d5617-5fbd-41e2-990c-208d504fc3c3}" ma:internalName="TaxCatchAll" ma:showField="CatchAllData" ma:web="8e6b3d1b-1efa-4aae-9053-200e21d8bb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0DDC98-2004-4249-9B43-0B364C106B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0AB1D3-631A-42AE-B0B3-CAE8725AEE21}">
  <ds:schemaRefs>
    <ds:schemaRef ds:uri="8e6b3d1b-1efa-4aae-9053-200e21d8bbfc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ab708217-bac6-4a67-bccd-e1974bfcd60a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AE60F23-A142-436C-8ECE-C0E1E2D288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708217-bac6-4a67-bccd-e1974bfcd60a"/>
    <ds:schemaRef ds:uri="8e6b3d1b-1efa-4aae-9053-200e21d8bb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764</Words>
  <Application>Microsoft Office PowerPoint</Application>
  <PresentationFormat>와이드스크린</PresentationFormat>
  <Paragraphs>161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Noto Sans KR</vt:lpstr>
      <vt:lpstr>Arial</vt:lpstr>
      <vt:lpstr>CHA Bundang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분당차병원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분당차병원 AI 국책과제 워킹그룹 (2026.10.22)</dc:title>
  <dc:subject>PptxGenJS Presentation</dc:subject>
  <dc:creator>PptxGenJS</dc:creator>
  <cp:lastModifiedBy>강 유림</cp:lastModifiedBy>
  <cp:revision>5</cp:revision>
  <dcterms:created xsi:type="dcterms:W3CDTF">2026-10-14T03:08:49Z</dcterms:created>
  <dcterms:modified xsi:type="dcterms:W3CDTF">2026-10-15T02:20:14Z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0x01010095B8D9233692A04895CFD4DD873C8953</vt:lpwstr>
  </property>
  <property fmtid="{D5CDD505-2E9C-101B-9397-08002B2CF9AE}" pid="3" name="MediaServiceImageTags">
    <vt:lpwstr/>
  </property>
</Properties>
</file>